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Share</c:v>
                </c:pt>
              </c:strCache>
            </c:strRef>
          </c:tx>
          <c:spPr>
            <a:solidFill>
              <a:schemeClr val="accent1"/>
            </a:solidFill>
            <a:ln w="9525" cap="flat">
              <a:solidFill>
                <a:srgbClr val="F9F9F9"/>
              </a:solidFill>
              <a:prstDash val="solid"/>
              <a:round/>
            </a:ln>
            <a:effectLst/>
          </c:spPr>
          <c:dPt>
            <c:idx val="0"/>
            <c:bubble3D val="0"/>
            <c:spPr>
              <a:solidFill>
                <a:srgbClr val="0E8A5F"/>
              </a:solidFill>
              <a:ln w="12700" cap="flat">
                <a:solidFill>
                  <a:srgbClr val="0F2F4F"/>
                </a:solidFill>
                <a:prstDash val="solid"/>
                <a:round/>
              </a:ln>
              <a:effectLst/>
            </c:spPr>
          </c:dPt>
          <c:dPt>
            <c:idx val="1"/>
            <c:bubble3D val="0"/>
            <c:spPr>
              <a:solidFill>
                <a:srgbClr val="F2C12E"/>
              </a:solidFill>
              <a:ln w="12700" cap="flat">
                <a:solidFill>
                  <a:srgbClr val="0F2F4F"/>
                </a:solidFill>
                <a:prstDash val="solid"/>
                <a:round/>
              </a:ln>
              <a:effectLst/>
            </c:spPr>
          </c:dPt>
          <c:dPt>
            <c:idx val="2"/>
            <c:bubble3D val="0"/>
            <c:spPr>
              <a:solidFill>
                <a:srgbClr val="5FA8D3"/>
              </a:solidFill>
              <a:ln w="12700" cap="flat">
                <a:solidFill>
                  <a:srgbClr val="0F2F4F"/>
                </a:solidFill>
                <a:prstDash val="solid"/>
                <a:round/>
              </a:ln>
              <a:effectLst/>
            </c:spPr>
          </c:dPt>
          <c:dPt>
            <c:idx val="3"/>
            <c:bubble3D val="0"/>
            <c:spPr>
              <a:solidFill>
                <a:srgbClr val="7C93AD"/>
              </a:solidFill>
              <a:ln w="12700" cap="flat">
                <a:solidFill>
                  <a:srgbClr val="0F2F4F"/>
                </a:solidFill>
                <a:prstDash val="solid"/>
                <a:round/>
              </a:ln>
              <a:effectLst/>
            </c:spPr>
          </c:dPt>
          <c:dPt>
            <c:idx val="4"/>
            <c:bubble3D val="0"/>
            <c:spPr>
              <a:solidFill>
                <a:srgbClr val="4F6B88"/>
              </a:solidFill>
              <a:ln w="12700" cap="flat">
                <a:solidFill>
                  <a:srgbClr val="0F2F4F"/>
                </a:solidFill>
                <a:prstDash val="solid"/>
                <a:round/>
              </a:ln>
              <a:effectLst/>
            </c:spPr>
          </c:dPt>
          <c:dPt>
            <c:idx val="5"/>
            <c:bubble3D val="0"/>
            <c:spPr>
              <a:solidFill>
                <a:srgbClr val="33506E"/>
              </a:solidFill>
              <a:ln w="12700" cap="flat">
                <a:solidFill>
                  <a:srgbClr val="0F2F4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3"/>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4"/>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5"/>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Sheet1!$A$2:$A$7</c:f>
              <c:strCache>
                <c:ptCount val="6"/>
                <c:pt idx="0">
                  <c:v>Petrobras</c:v>
                </c:pt>
                <c:pt idx="1">
                  <c:v>Shell Brasil</c:v>
                </c:pt>
                <c:pt idx="2">
                  <c:v>TotalEnergies</c:v>
                </c:pt>
                <c:pt idx="3">
                  <c:v>CNPC</c:v>
                </c:pt>
                <c:pt idx="4">
                  <c:v>CNOOC</c:v>
                </c:pt>
                <c:pt idx="5">
                  <c:v>PPSA</c:v>
                </c:pt>
              </c:strCache>
            </c:strRef>
          </c:cat>
          <c:val>
            <c:numRef>
              <c:f>Sheet1!$B$2:$B$7</c:f>
              <c:numCache>
                <c:ptCount val="6"/>
                <c:pt idx="0">
                  <c:v>38.6</c:v>
                </c:pt>
                <c:pt idx="1">
                  <c:v>19.3</c:v>
                </c:pt>
                <c:pt idx="2">
                  <c:v>19.3</c:v>
                </c:pt>
                <c:pt idx="3">
                  <c:v>9.65</c:v>
                </c:pt>
                <c:pt idx="4">
                  <c:v>9.65</c:v>
                </c:pt>
                <c:pt idx="5">
                  <c:v>3.5</c:v>
                </c:pt>
              </c:numCache>
            </c:numRef>
          </c:val>
        </c:ser>
        <c:firstSliceAng val="0"/>
        <c:holeSize val="62"/>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Deck summarises Sonardyne's Brazil activity from trade press and company sources: Offshore Magazine, JPT, Marine Technology News, Kraken Robotics releases and Sonardyne news.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Executive summary. Sonardyne has had a local presence in Brazil for more than 20 years; the flagship OD OBN programme reached its first field deployment at the Petrobras-operated Mero field in early 2026; Kraken Robotics expects commercial production from 2027.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Office details from Sonardyne's May 2015 release. C-Innovation case study published October 2022. Mero deployment reported by JPT (June 2026) and Kraken Robotics (July 2026). Sonardyne Brasil Ltda provides in-country technical support, repair, training and sales.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Petrobras: operator of Mero, R&amp;D via CENPES, and client on Fugro and OceanPact charters. SENAI CIMATEC co-manufactures nodes at Camaçari and runs deployments. C-Innovation (Edison Chouest affiliate) also serves Shell, Chevron, ExxonMobil, BP and PetroRio in Brazil, according to Sonardyne's 2022 case study; its fleet using Sonardyne grew from 2 to 15 vessels.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Offshore Magazine (Jan 2026), Marine Technology News, JPT (June 2026). Node life of up to five years and 3,000 m depth rating per JPT. Some sources give the pilot array as 600 nodes (2024 plan) and later 660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links, two jobs: acoustics for long-range control and timing; optics for short-range, high-volume data transfer. The data harvesting vehicle is Saipem's FlatFish AUV, with ROV retrieval as an alternative (Sonardyne case study). Results are used to adjust extraction rates and fluid reinjection (JPT). Schematic is illustrative, not to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steps: seismic acquisition over the monitored area, optical data retrieval, 4D processing and assessment of reservoir-management value. Shell Brasil's Manoela Lopes called the Mero deployment a decisive step in maturing the technology.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Press coverage names BlueComm as the optical system but does not state which model the nodes use; the BlueComm 200 UV figures are Sonardyne's current product specs. Sonardyne leads communications, integration and co-manufacturing. Plant capacity of 600 nodes a year is from the 2024 announcement.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C-Innovation's Sonardyne-equipped fleet in Brazil grew from 2 to 15 vessels (2022 case study). Its 2020 order covered SPRINT, Lodestar AHRS, Syrinx DVL, SPRINT-Nav, Compatt 6+ and WSM 6+ for six vessels working for Petrobras and Karoon.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Commercial production timing and scale from Kraken Robotics' 20 July 2026 business update.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summary. Invite questions on the Mero timeline, the scale-up to commercial production from 2027, and what Kraken Robotics ownership means for the Brazil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Slide-7-image-1.png"/><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image" Target="../media/image-7-4.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1143000"/>
            <a:ext cx="4572000" cy="274320"/>
          </a:xfrm>
          <a:prstGeom prst="rect">
            <a:avLst/>
          </a:prstGeom>
          <a:noFill/>
          <a:ln/>
        </p:spPr>
        <p:txBody>
          <a:bodyPr wrap="square" lIns="0" tIns="0" rIns="0" bIns="0" rtlCol="0" anchor="ctr"/>
          <a:lstStyle/>
          <a:p>
            <a:pPr indent="0" marL="0">
              <a:buNone/>
            </a:pPr>
            <a:r>
              <a:rPr lang="en-US" sz="1100" b="1" spc="400" kern="0" dirty="0">
                <a:solidFill>
                  <a:srgbClr val="17B584"/>
                </a:solidFill>
                <a:latin typeface="Calibri" pitchFamily="34" charset="0"/>
                <a:ea typeface="Calibri" pitchFamily="34" charset="-122"/>
                <a:cs typeface="Calibri" pitchFamily="34" charset="-120"/>
              </a:rPr>
              <a:t>SEPTEMBER 2026 BRIEFING</a:t>
            </a:r>
            <a:endParaRPr lang="en-US" sz="1100" dirty="0"/>
          </a:p>
        </p:txBody>
      </p:sp>
      <p:sp>
        <p:nvSpPr>
          <p:cNvPr id="3" name="Text 1"/>
          <p:cNvSpPr txBox="1"/>
          <p:nvPr/>
        </p:nvSpPr>
        <p:spPr>
          <a:xfrm>
            <a:off x="548640" y="1463040"/>
            <a:ext cx="5486400" cy="1554480"/>
          </a:xfrm>
          <a:prstGeom prst="rect">
            <a:avLst/>
          </a:prstGeom>
          <a:noFill/>
          <a:ln/>
        </p:spPr>
        <p:txBody>
          <a:bodyPr wrap="square" lIns="0" tIns="0" rIns="0" bIns="0" rtlCol="0" anchor="t"/>
          <a:lstStyle/>
          <a:p>
            <a:pPr indent="0" marL="0">
              <a:lnSpc>
                <a:spcPct val="95000"/>
              </a:lnSpc>
              <a:buNone/>
            </a:pPr>
            <a:r>
              <a:rPr lang="en-US" sz="5000" b="1" dirty="0">
                <a:solidFill>
                  <a:srgbClr val="FFFFFF"/>
                </a:solidFill>
                <a:latin typeface="Arial" pitchFamily="34" charset="0"/>
                <a:ea typeface="Arial" pitchFamily="34" charset="-122"/>
                <a:cs typeface="Arial" pitchFamily="34" charset="-120"/>
              </a:rPr>
              <a:t>Sonardyne</a:t>
            </a:r>
            <a:endParaRPr lang="en-US" sz="5000" dirty="0"/>
          </a:p>
          <a:p>
            <a:pPr indent="0" marL="0">
              <a:lnSpc>
                <a:spcPct val="95000"/>
              </a:lnSpc>
              <a:buNone/>
            </a:pPr>
            <a:r>
              <a:rPr lang="en-US" sz="5000" b="1" dirty="0">
                <a:solidFill>
                  <a:srgbClr val="FFFFFF"/>
                </a:solidFill>
                <a:latin typeface="Arial" pitchFamily="34" charset="0"/>
                <a:ea typeface="Arial" pitchFamily="34" charset="-122"/>
                <a:cs typeface="Arial" pitchFamily="34" charset="-120"/>
              </a:rPr>
              <a:t>in Brazil</a:t>
            </a:r>
            <a:endParaRPr lang="en-US" sz="5000" dirty="0"/>
          </a:p>
        </p:txBody>
      </p:sp>
      <p:sp>
        <p:nvSpPr>
          <p:cNvPr id="4" name="Text 2"/>
          <p:cNvSpPr txBox="1"/>
          <p:nvPr/>
        </p:nvSpPr>
        <p:spPr>
          <a:xfrm>
            <a:off x="548640" y="3063240"/>
            <a:ext cx="5486400" cy="365760"/>
          </a:xfrm>
          <a:prstGeom prst="rect">
            <a:avLst/>
          </a:prstGeom>
          <a:noFill/>
          <a:ln/>
        </p:spPr>
        <p:txBody>
          <a:bodyPr wrap="square" lIns="0" tIns="0" rIns="0" bIns="0" rtlCol="0" anchor="ctr"/>
          <a:lstStyle/>
          <a:p>
            <a:pPr indent="0" marL="0">
              <a:buNone/>
            </a:pPr>
            <a:r>
              <a:rPr lang="en-US" sz="2000" dirty="0">
                <a:solidFill>
                  <a:srgbClr val="F2C12E"/>
                </a:solidFill>
                <a:latin typeface="Calibri" pitchFamily="34" charset="0"/>
                <a:ea typeface="Calibri" pitchFamily="34" charset="-122"/>
                <a:cs typeface="Calibri" pitchFamily="34" charset="-120"/>
              </a:rPr>
              <a:t>Pre-salt projects, partners and new technology</a:t>
            </a:r>
            <a:endParaRPr lang="en-US" sz="2000" dirty="0"/>
          </a:p>
        </p:txBody>
      </p:sp>
      <p:sp>
        <p:nvSpPr>
          <p:cNvPr id="5" name="Text 3"/>
          <p:cNvSpPr txBox="1"/>
          <p:nvPr/>
        </p:nvSpPr>
        <p:spPr>
          <a:xfrm>
            <a:off x="548640" y="3520440"/>
            <a:ext cx="4754880" cy="548640"/>
          </a:xfrm>
          <a:prstGeom prst="rect">
            <a:avLst/>
          </a:prstGeom>
          <a:noFill/>
          <a:ln/>
        </p:spPr>
        <p:txBody>
          <a:bodyPr wrap="square" lIns="0" tIns="0" rIns="0" bIns="0" rtlCol="0" anchor="t"/>
          <a:lstStyle/>
          <a:p>
            <a:pPr indent="0" marL="0">
              <a:buNone/>
            </a:pPr>
            <a:r>
              <a:rPr lang="en-US" sz="1200" dirty="0">
                <a:solidFill>
                  <a:srgbClr val="9FB3C8"/>
                </a:solidFill>
                <a:latin typeface="Calibri" pitchFamily="34" charset="0"/>
                <a:ea typeface="Calibri" pitchFamily="34" charset="-122"/>
                <a:cs typeface="Calibri" pitchFamily="34" charset="-120"/>
              </a:rPr>
              <a:t>On Demand Ocean Bottom Nodes at Mero, optical data harvesting and the fleet behind Brazil's deepwater operations</a:t>
            </a:r>
            <a:endParaRPr lang="en-US" sz="1200" dirty="0"/>
          </a:p>
        </p:txBody>
      </p:sp>
      <p:sp>
        <p:nvSpPr>
          <p:cNvPr id="6" name="Text 4"/>
          <p:cNvSpPr txBox="1"/>
          <p:nvPr/>
        </p:nvSpPr>
        <p:spPr>
          <a:xfrm>
            <a:off x="548640" y="4617720"/>
            <a:ext cx="4572000" cy="228600"/>
          </a:xfrm>
          <a:prstGeom prst="rect">
            <a:avLst/>
          </a:prstGeom>
          <a:noFill/>
          <a:ln/>
        </p:spPr>
        <p:txBody>
          <a:bodyPr wrap="square" lIns="0" tIns="0" rIns="0" bIns="0" rtlCol="0" anchor="ctr"/>
          <a:lstStyle/>
          <a:p>
            <a:pPr indent="0" marL="0">
              <a:buNone/>
            </a:pPr>
            <a:r>
              <a:rPr lang="en-US" sz="900" dirty="0">
                <a:solidFill>
                  <a:srgbClr val="6F87A0"/>
                </a:solidFill>
                <a:latin typeface="Calibri" pitchFamily="34" charset="0"/>
                <a:ea typeface="Calibri" pitchFamily="34" charset="-122"/>
                <a:cs typeface="Calibri" pitchFamily="34" charset="-120"/>
              </a:rPr>
              <a:t>Based on trade press and company news to September 2026</a:t>
            </a:r>
            <a:endParaRPr lang="en-US" sz="900" dirty="0"/>
          </a:p>
        </p:txBody>
      </p:sp>
      <p:sp>
        <p:nvSpPr>
          <p:cNvPr id="7" name="Shape 5"/>
          <p:cNvSpPr/>
          <p:nvPr/>
        </p:nvSpPr>
        <p:spPr>
          <a:xfrm>
            <a:off x="6400800" y="1828800"/>
            <a:ext cx="118872" cy="118872"/>
          </a:xfrm>
          <a:prstGeom prst="ellipse">
            <a:avLst/>
          </a:prstGeom>
          <a:solidFill>
            <a:srgbClr val="E8EFF6"/>
          </a:solidFill>
          <a:ln/>
        </p:spPr>
      </p:sp>
      <p:sp>
        <p:nvSpPr>
          <p:cNvPr id="8" name="Shape 6"/>
          <p:cNvSpPr/>
          <p:nvPr/>
        </p:nvSpPr>
        <p:spPr>
          <a:xfrm>
            <a:off x="6903720" y="1828800"/>
            <a:ext cx="118872" cy="118872"/>
          </a:xfrm>
          <a:prstGeom prst="ellipse">
            <a:avLst/>
          </a:prstGeom>
          <a:solidFill>
            <a:srgbClr val="F2C12E"/>
          </a:solidFill>
          <a:ln/>
        </p:spPr>
      </p:sp>
      <p:sp>
        <p:nvSpPr>
          <p:cNvPr id="9" name="Shape 7"/>
          <p:cNvSpPr/>
          <p:nvPr/>
        </p:nvSpPr>
        <p:spPr>
          <a:xfrm>
            <a:off x="7406640" y="1828800"/>
            <a:ext cx="118872" cy="118872"/>
          </a:xfrm>
          <a:prstGeom prst="ellipse">
            <a:avLst/>
          </a:prstGeom>
          <a:solidFill>
            <a:srgbClr val="E8EFF6"/>
          </a:solidFill>
          <a:ln/>
        </p:spPr>
      </p:sp>
      <p:sp>
        <p:nvSpPr>
          <p:cNvPr id="10" name="Shape 8"/>
          <p:cNvSpPr/>
          <p:nvPr/>
        </p:nvSpPr>
        <p:spPr>
          <a:xfrm>
            <a:off x="7909560" y="1828800"/>
            <a:ext cx="118872" cy="118872"/>
          </a:xfrm>
          <a:prstGeom prst="ellipse">
            <a:avLst/>
          </a:prstGeom>
          <a:solidFill>
            <a:srgbClr val="E8EFF6"/>
          </a:solidFill>
          <a:ln/>
        </p:spPr>
      </p:sp>
      <p:sp>
        <p:nvSpPr>
          <p:cNvPr id="11" name="Shape 9"/>
          <p:cNvSpPr/>
          <p:nvPr/>
        </p:nvSpPr>
        <p:spPr>
          <a:xfrm>
            <a:off x="8412480" y="1828800"/>
            <a:ext cx="118872" cy="118872"/>
          </a:xfrm>
          <a:prstGeom prst="ellipse">
            <a:avLst/>
          </a:prstGeom>
          <a:solidFill>
            <a:srgbClr val="E8EFF6"/>
          </a:solidFill>
          <a:ln/>
        </p:spPr>
      </p:sp>
      <p:sp>
        <p:nvSpPr>
          <p:cNvPr id="12" name="Shape 10"/>
          <p:cNvSpPr/>
          <p:nvPr/>
        </p:nvSpPr>
        <p:spPr>
          <a:xfrm>
            <a:off x="6647688" y="2286000"/>
            <a:ext cx="118872" cy="118872"/>
          </a:xfrm>
          <a:prstGeom prst="ellipse">
            <a:avLst/>
          </a:prstGeom>
          <a:solidFill>
            <a:srgbClr val="F2C12E"/>
          </a:solidFill>
          <a:ln/>
        </p:spPr>
      </p:sp>
      <p:sp>
        <p:nvSpPr>
          <p:cNvPr id="13" name="Shape 11"/>
          <p:cNvSpPr/>
          <p:nvPr/>
        </p:nvSpPr>
        <p:spPr>
          <a:xfrm>
            <a:off x="7150608" y="2286000"/>
            <a:ext cx="118872" cy="118872"/>
          </a:xfrm>
          <a:prstGeom prst="ellipse">
            <a:avLst/>
          </a:prstGeom>
          <a:solidFill>
            <a:srgbClr val="E8EFF6"/>
          </a:solidFill>
          <a:ln/>
        </p:spPr>
      </p:sp>
      <p:sp>
        <p:nvSpPr>
          <p:cNvPr id="14" name="Shape 12"/>
          <p:cNvSpPr/>
          <p:nvPr/>
        </p:nvSpPr>
        <p:spPr>
          <a:xfrm>
            <a:off x="7653528" y="2286000"/>
            <a:ext cx="118872" cy="118872"/>
          </a:xfrm>
          <a:prstGeom prst="ellipse">
            <a:avLst/>
          </a:prstGeom>
          <a:solidFill>
            <a:srgbClr val="E8EFF6"/>
          </a:solidFill>
          <a:ln/>
        </p:spPr>
      </p:sp>
      <p:sp>
        <p:nvSpPr>
          <p:cNvPr id="15" name="Shape 13"/>
          <p:cNvSpPr/>
          <p:nvPr/>
        </p:nvSpPr>
        <p:spPr>
          <a:xfrm>
            <a:off x="8156448" y="2286000"/>
            <a:ext cx="118872" cy="118872"/>
          </a:xfrm>
          <a:prstGeom prst="ellipse">
            <a:avLst/>
          </a:prstGeom>
          <a:solidFill>
            <a:srgbClr val="E8EFF6"/>
          </a:solidFill>
          <a:ln/>
        </p:spPr>
      </p:sp>
      <p:sp>
        <p:nvSpPr>
          <p:cNvPr id="16" name="Shape 14"/>
          <p:cNvSpPr/>
          <p:nvPr/>
        </p:nvSpPr>
        <p:spPr>
          <a:xfrm>
            <a:off x="8659368" y="2286000"/>
            <a:ext cx="118872" cy="118872"/>
          </a:xfrm>
          <a:prstGeom prst="ellipse">
            <a:avLst/>
          </a:prstGeom>
          <a:solidFill>
            <a:srgbClr val="F2C12E"/>
          </a:solidFill>
          <a:ln/>
        </p:spPr>
      </p:sp>
      <p:sp>
        <p:nvSpPr>
          <p:cNvPr id="17" name="Shape 15"/>
          <p:cNvSpPr/>
          <p:nvPr/>
        </p:nvSpPr>
        <p:spPr>
          <a:xfrm>
            <a:off x="6400800" y="2743200"/>
            <a:ext cx="118872" cy="118872"/>
          </a:xfrm>
          <a:prstGeom prst="ellipse">
            <a:avLst/>
          </a:prstGeom>
          <a:solidFill>
            <a:srgbClr val="E8EFF6"/>
          </a:solidFill>
          <a:ln/>
        </p:spPr>
      </p:sp>
      <p:sp>
        <p:nvSpPr>
          <p:cNvPr id="18" name="Shape 16"/>
          <p:cNvSpPr/>
          <p:nvPr/>
        </p:nvSpPr>
        <p:spPr>
          <a:xfrm>
            <a:off x="6903720" y="2743200"/>
            <a:ext cx="118872" cy="118872"/>
          </a:xfrm>
          <a:prstGeom prst="ellipse">
            <a:avLst/>
          </a:prstGeom>
          <a:solidFill>
            <a:srgbClr val="E8EFF6"/>
          </a:solidFill>
          <a:ln/>
        </p:spPr>
      </p:sp>
      <p:sp>
        <p:nvSpPr>
          <p:cNvPr id="19" name="Shape 17"/>
          <p:cNvSpPr/>
          <p:nvPr/>
        </p:nvSpPr>
        <p:spPr>
          <a:xfrm>
            <a:off x="7406640" y="2743200"/>
            <a:ext cx="118872" cy="118872"/>
          </a:xfrm>
          <a:prstGeom prst="ellipse">
            <a:avLst/>
          </a:prstGeom>
          <a:solidFill>
            <a:srgbClr val="E8EFF6"/>
          </a:solidFill>
          <a:ln/>
        </p:spPr>
      </p:sp>
      <p:sp>
        <p:nvSpPr>
          <p:cNvPr id="20" name="Shape 18"/>
          <p:cNvSpPr/>
          <p:nvPr/>
        </p:nvSpPr>
        <p:spPr>
          <a:xfrm>
            <a:off x="7909560" y="2743200"/>
            <a:ext cx="118872" cy="118872"/>
          </a:xfrm>
          <a:prstGeom prst="ellipse">
            <a:avLst/>
          </a:prstGeom>
          <a:solidFill>
            <a:srgbClr val="F2C12E"/>
          </a:solidFill>
          <a:ln/>
        </p:spPr>
      </p:sp>
      <p:sp>
        <p:nvSpPr>
          <p:cNvPr id="21" name="Shape 19"/>
          <p:cNvSpPr/>
          <p:nvPr/>
        </p:nvSpPr>
        <p:spPr>
          <a:xfrm>
            <a:off x="8412480" y="2743200"/>
            <a:ext cx="118872" cy="118872"/>
          </a:xfrm>
          <a:prstGeom prst="ellipse">
            <a:avLst/>
          </a:prstGeom>
          <a:solidFill>
            <a:srgbClr val="E8EFF6"/>
          </a:solidFill>
          <a:ln/>
        </p:spPr>
      </p:sp>
      <p:sp>
        <p:nvSpPr>
          <p:cNvPr id="22" name="Shape 20"/>
          <p:cNvSpPr/>
          <p:nvPr/>
        </p:nvSpPr>
        <p:spPr>
          <a:xfrm>
            <a:off x="6647688" y="3200400"/>
            <a:ext cx="118872" cy="118872"/>
          </a:xfrm>
          <a:prstGeom prst="ellipse">
            <a:avLst/>
          </a:prstGeom>
          <a:solidFill>
            <a:srgbClr val="E8EFF6"/>
          </a:solidFill>
          <a:ln/>
        </p:spPr>
      </p:sp>
      <p:sp>
        <p:nvSpPr>
          <p:cNvPr id="23" name="Shape 21"/>
          <p:cNvSpPr/>
          <p:nvPr/>
        </p:nvSpPr>
        <p:spPr>
          <a:xfrm>
            <a:off x="7150608" y="3200400"/>
            <a:ext cx="118872" cy="118872"/>
          </a:xfrm>
          <a:prstGeom prst="ellipse">
            <a:avLst/>
          </a:prstGeom>
          <a:solidFill>
            <a:srgbClr val="E8EFF6"/>
          </a:solidFill>
          <a:ln/>
        </p:spPr>
      </p:sp>
      <p:sp>
        <p:nvSpPr>
          <p:cNvPr id="24" name="Shape 22"/>
          <p:cNvSpPr/>
          <p:nvPr/>
        </p:nvSpPr>
        <p:spPr>
          <a:xfrm>
            <a:off x="7653528" y="3200400"/>
            <a:ext cx="118872" cy="118872"/>
          </a:xfrm>
          <a:prstGeom prst="ellipse">
            <a:avLst/>
          </a:prstGeom>
          <a:solidFill>
            <a:srgbClr val="F2C12E"/>
          </a:solidFill>
          <a:ln/>
        </p:spPr>
      </p:sp>
      <p:sp>
        <p:nvSpPr>
          <p:cNvPr id="25" name="Shape 23"/>
          <p:cNvSpPr/>
          <p:nvPr/>
        </p:nvSpPr>
        <p:spPr>
          <a:xfrm>
            <a:off x="8156448" y="3200400"/>
            <a:ext cx="118872" cy="118872"/>
          </a:xfrm>
          <a:prstGeom prst="ellipse">
            <a:avLst/>
          </a:prstGeom>
          <a:solidFill>
            <a:srgbClr val="E8EFF6"/>
          </a:solidFill>
          <a:ln/>
        </p:spPr>
      </p:sp>
      <p:sp>
        <p:nvSpPr>
          <p:cNvPr id="26" name="Shape 24"/>
          <p:cNvSpPr/>
          <p:nvPr/>
        </p:nvSpPr>
        <p:spPr>
          <a:xfrm>
            <a:off x="8659368" y="3200400"/>
            <a:ext cx="118872" cy="118872"/>
          </a:xfrm>
          <a:prstGeom prst="ellipse">
            <a:avLst/>
          </a:prstGeom>
          <a:solidFill>
            <a:srgbClr val="E8EFF6"/>
          </a:solidFill>
          <a:ln/>
        </p:spPr>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92608"/>
            <a:ext cx="6400800" cy="228600"/>
          </a:xfrm>
          <a:prstGeom prst="rect">
            <a:avLst/>
          </a:prstGeom>
          <a:noFill/>
          <a:ln/>
        </p:spPr>
        <p:txBody>
          <a:bodyPr wrap="square" lIns="0" tIns="0" rIns="0" bIns="0" rtlCol="0" anchor="ctr"/>
          <a:lstStyle/>
          <a:p>
            <a:pPr indent="0" marL="0">
              <a:buNone/>
            </a:pPr>
            <a:r>
              <a:rPr lang="en-US" sz="1000" b="1" spc="300" kern="0" dirty="0">
                <a:solidFill>
                  <a:srgbClr val="17B584"/>
                </a:solidFill>
                <a:latin typeface="Calibri" pitchFamily="34" charset="0"/>
                <a:ea typeface="Calibri" pitchFamily="34" charset="-122"/>
                <a:cs typeface="Calibri" pitchFamily="34" charset="-120"/>
              </a:rPr>
              <a:t>AT A GLANCE</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Three things to know</a:t>
            </a:r>
            <a:endParaRPr lang="en-US" sz="2400" dirty="0"/>
          </a:p>
        </p:txBody>
      </p:sp>
      <p:sp>
        <p:nvSpPr>
          <p:cNvPr id="4" name="Text 2"/>
          <p:cNvSpPr txBox="1"/>
          <p:nvPr/>
        </p:nvSpPr>
        <p:spPr>
          <a:xfrm>
            <a:off x="457200" y="4754880"/>
            <a:ext cx="2743200" cy="201168"/>
          </a:xfrm>
          <a:prstGeom prst="rect">
            <a:avLst/>
          </a:prstGeom>
          <a:noFill/>
          <a:ln/>
        </p:spPr>
        <p:txBody>
          <a:bodyPr wrap="square" lIns="0" tIns="0" rIns="0" bIns="0" rtlCol="0" anchor="ctr"/>
          <a:lstStyle/>
          <a:p>
            <a:pPr indent="0" marL="0">
              <a:buNone/>
            </a:pPr>
            <a:r>
              <a:rPr lang="en-US" sz="900" dirty="0">
                <a:solidFill>
                  <a:srgbClr val="6F87A0"/>
                </a:solidFill>
                <a:latin typeface="Calibri" pitchFamily="34" charset="0"/>
                <a:ea typeface="Calibri" pitchFamily="34" charset="-122"/>
                <a:cs typeface="Calibri" pitchFamily="34" charset="-120"/>
              </a:rPr>
              <a:t>Sonardyne in Brazil</a:t>
            </a:r>
            <a:endParaRPr lang="en-US" sz="900" dirty="0"/>
          </a:p>
        </p:txBody>
      </p:sp>
      <p:sp>
        <p:nvSpPr>
          <p:cNvPr id="5" name="Text 3"/>
          <p:cNvSpPr txBox="1"/>
          <p:nvPr/>
        </p:nvSpPr>
        <p:spPr>
          <a:xfrm>
            <a:off x="7772400" y="4754880"/>
            <a:ext cx="914400" cy="201168"/>
          </a:xfrm>
          <a:prstGeom prst="rect">
            <a:avLst/>
          </a:prstGeom>
          <a:noFill/>
          <a:ln/>
        </p:spPr>
        <p:txBody>
          <a:bodyPr wrap="square" lIns="0" tIns="0" rIns="0" bIns="0" rtlCol="0" anchor="ctr"/>
          <a:lstStyle/>
          <a:p>
            <a:pPr algn="r" indent="0" marL="0">
              <a:buNone/>
            </a:pPr>
            <a:r>
              <a:rPr lang="en-US" sz="900" dirty="0">
                <a:solidFill>
                  <a:srgbClr val="6F87A0"/>
                </a:solidFill>
                <a:latin typeface="Calibri" pitchFamily="34" charset="0"/>
                <a:ea typeface="Calibri" pitchFamily="34" charset="-122"/>
                <a:cs typeface="Calibri" pitchFamily="34" charset="-120"/>
              </a:rPr>
              <a:t>02 / 12</a:t>
            </a:r>
            <a:endParaRPr lang="en-US" sz="900" dirty="0"/>
          </a:p>
        </p:txBody>
      </p:sp>
      <p:sp>
        <p:nvSpPr>
          <p:cNvPr id="6" name="Shape 4"/>
          <p:cNvSpPr/>
          <p:nvPr/>
        </p:nvSpPr>
        <p:spPr>
          <a:xfrm>
            <a:off x="457200" y="1417320"/>
            <a:ext cx="2615184" cy="3017520"/>
          </a:xfrm>
          <a:prstGeom prst="roundRect">
            <a:avLst>
              <a:gd name="adj" fmla="val 2797"/>
            </a:avLst>
          </a:prstGeom>
          <a:solidFill>
            <a:srgbClr val="0F2F4F"/>
          </a:solidFill>
          <a:ln w="9525">
            <a:solidFill>
              <a:srgbClr val="24507A"/>
            </a:solidFill>
            <a:prstDash val="solid"/>
          </a:ln>
        </p:spPr>
      </p:sp>
      <p:sp>
        <p:nvSpPr>
          <p:cNvPr id="7" name="Shape 5"/>
          <p:cNvSpPr/>
          <p:nvPr/>
        </p:nvSpPr>
        <p:spPr>
          <a:xfrm>
            <a:off x="731520" y="1691640"/>
            <a:ext cx="502920" cy="502920"/>
          </a:xfrm>
          <a:prstGeom prst="ellipse">
            <a:avLst/>
          </a:prstGeom>
          <a:solidFill>
            <a:srgbClr val="0E8A5F"/>
          </a:solidFill>
          <a:ln/>
        </p:spPr>
      </p:sp>
      <p:pic>
        <p:nvPicPr>
          <p:cNvPr id="8" name="Image 0" descr="preencoded.png">    </p:cNvPr>
          <p:cNvPicPr>
            <a:picLocks noChangeAspect="1"/>
          </p:cNvPicPr>
          <p:nvPr/>
        </p:nvPicPr>
        <p:blipFill>
          <a:blip r:embed="rId2"/>
          <a:stretch>
            <a:fillRect/>
          </a:stretch>
        </p:blipFill>
        <p:spPr>
          <a:xfrm>
            <a:off x="862279" y="1822399"/>
            <a:ext cx="241402" cy="241402"/>
          </a:xfrm>
          <a:prstGeom prst="rect">
            <a:avLst/>
          </a:prstGeom>
        </p:spPr>
      </p:pic>
      <p:sp>
        <p:nvSpPr>
          <p:cNvPr id="9" name="Text 6"/>
          <p:cNvSpPr txBox="1"/>
          <p:nvPr/>
        </p:nvSpPr>
        <p:spPr>
          <a:xfrm>
            <a:off x="731520" y="2331720"/>
            <a:ext cx="2066544" cy="822960"/>
          </a:xfrm>
          <a:prstGeom prst="rect">
            <a:avLst/>
          </a:prstGeom>
          <a:noFill/>
          <a:ln/>
        </p:spPr>
        <p:txBody>
          <a:bodyPr wrap="square" lIns="0" tIns="0" rIns="0" bIns="0" rtlCol="0" anchor="ctr"/>
          <a:lstStyle/>
          <a:p>
            <a:pPr indent="0" marL="0">
              <a:buNone/>
            </a:pPr>
            <a:r>
              <a:rPr lang="en-US" sz="4800" b="1" dirty="0">
                <a:solidFill>
                  <a:srgbClr val="F2C12E"/>
                </a:solidFill>
                <a:latin typeface="Arial" pitchFamily="34" charset="0"/>
                <a:ea typeface="Arial" pitchFamily="34" charset="-122"/>
                <a:cs typeface="Arial" pitchFamily="34" charset="-120"/>
              </a:rPr>
              <a:t>20+</a:t>
            </a:r>
            <a:endParaRPr lang="en-US" sz="4800" dirty="0"/>
          </a:p>
        </p:txBody>
      </p:sp>
      <p:sp>
        <p:nvSpPr>
          <p:cNvPr id="10" name="Text 7"/>
          <p:cNvSpPr txBox="1"/>
          <p:nvPr/>
        </p:nvSpPr>
        <p:spPr>
          <a:xfrm>
            <a:off x="731520" y="3154680"/>
            <a:ext cx="2066544"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years in Brazil</a:t>
            </a:r>
            <a:endParaRPr lang="en-US" sz="1500" dirty="0"/>
          </a:p>
        </p:txBody>
      </p:sp>
      <p:sp>
        <p:nvSpPr>
          <p:cNvPr id="11" name="Text 8"/>
          <p:cNvSpPr txBox="1"/>
          <p:nvPr/>
        </p:nvSpPr>
        <p:spPr>
          <a:xfrm>
            <a:off x="731520" y="3520440"/>
            <a:ext cx="2066544" cy="731520"/>
          </a:xfrm>
          <a:prstGeom prst="rect">
            <a:avLst/>
          </a:prstGeom>
          <a:noFill/>
          <a:ln/>
        </p:spPr>
        <p:txBody>
          <a:bodyPr wrap="square" lIns="0" tIns="0" rIns="0" bIns="0" rtlCol="0" anchor="t"/>
          <a:lstStyle/>
          <a:p>
            <a:pPr indent="0" marL="0">
              <a:buNone/>
            </a:pPr>
            <a:r>
              <a:rPr lang="en-US" sz="1150" dirty="0">
                <a:solidFill>
                  <a:srgbClr val="9FB3C8"/>
                </a:solidFill>
                <a:latin typeface="Calibri" pitchFamily="34" charset="0"/>
                <a:ea typeface="Calibri" pitchFamily="34" charset="-122"/>
                <a:cs typeface="Calibri" pitchFamily="34" charset="-120"/>
              </a:rPr>
              <a:t>Local office, in-country support and Portuguese-speaking engineers since the 2000s</a:t>
            </a:r>
            <a:endParaRPr lang="en-US" sz="1150" dirty="0"/>
          </a:p>
        </p:txBody>
      </p:sp>
      <p:sp>
        <p:nvSpPr>
          <p:cNvPr id="12" name="Shape 9"/>
          <p:cNvSpPr/>
          <p:nvPr/>
        </p:nvSpPr>
        <p:spPr>
          <a:xfrm>
            <a:off x="3264408" y="1417320"/>
            <a:ext cx="2615184" cy="3017520"/>
          </a:xfrm>
          <a:prstGeom prst="roundRect">
            <a:avLst>
              <a:gd name="adj" fmla="val 2797"/>
            </a:avLst>
          </a:prstGeom>
          <a:solidFill>
            <a:srgbClr val="0F2F4F"/>
          </a:solidFill>
          <a:ln w="9525">
            <a:solidFill>
              <a:srgbClr val="24507A"/>
            </a:solidFill>
            <a:prstDash val="solid"/>
          </a:ln>
        </p:spPr>
      </p:sp>
      <p:sp>
        <p:nvSpPr>
          <p:cNvPr id="13" name="Shape 10"/>
          <p:cNvSpPr/>
          <p:nvPr/>
        </p:nvSpPr>
        <p:spPr>
          <a:xfrm>
            <a:off x="3538728" y="1691640"/>
            <a:ext cx="502920" cy="502920"/>
          </a:xfrm>
          <a:prstGeom prst="ellipse">
            <a:avLst/>
          </a:prstGeom>
          <a:solidFill>
            <a:srgbClr val="0E8A5F"/>
          </a:solidFill>
          <a:ln/>
        </p:spPr>
      </p:sp>
      <p:pic>
        <p:nvPicPr>
          <p:cNvPr id="14" name="Image 1" descr="preencoded.png">    </p:cNvPr>
          <p:cNvPicPr>
            <a:picLocks noChangeAspect="1"/>
          </p:cNvPicPr>
          <p:nvPr/>
        </p:nvPicPr>
        <p:blipFill>
          <a:blip r:embed="rId3"/>
          <a:stretch>
            <a:fillRect/>
          </a:stretch>
        </p:blipFill>
        <p:spPr>
          <a:xfrm>
            <a:off x="3669487" y="1822399"/>
            <a:ext cx="241402" cy="241402"/>
          </a:xfrm>
          <a:prstGeom prst="rect">
            <a:avLst/>
          </a:prstGeom>
        </p:spPr>
      </p:pic>
      <p:sp>
        <p:nvSpPr>
          <p:cNvPr id="15" name="Text 11"/>
          <p:cNvSpPr txBox="1"/>
          <p:nvPr/>
        </p:nvSpPr>
        <p:spPr>
          <a:xfrm>
            <a:off x="3538728" y="2331720"/>
            <a:ext cx="2066544" cy="822960"/>
          </a:xfrm>
          <a:prstGeom prst="rect">
            <a:avLst/>
          </a:prstGeom>
          <a:noFill/>
          <a:ln/>
        </p:spPr>
        <p:txBody>
          <a:bodyPr wrap="square" lIns="0" tIns="0" rIns="0" bIns="0" rtlCol="0" anchor="ctr"/>
          <a:lstStyle/>
          <a:p>
            <a:pPr indent="0" marL="0">
              <a:buNone/>
            </a:pPr>
            <a:r>
              <a:rPr lang="en-US" sz="4800" b="1" dirty="0">
                <a:solidFill>
                  <a:srgbClr val="F2C12E"/>
                </a:solidFill>
                <a:latin typeface="Arial" pitchFamily="34" charset="0"/>
                <a:ea typeface="Arial" pitchFamily="34" charset="-122"/>
                <a:cs typeface="Arial" pitchFamily="34" charset="-120"/>
              </a:rPr>
              <a:t>84</a:t>
            </a:r>
            <a:endParaRPr lang="en-US" sz="4800" dirty="0"/>
          </a:p>
        </p:txBody>
      </p:sp>
      <p:sp>
        <p:nvSpPr>
          <p:cNvPr id="16" name="Text 12"/>
          <p:cNvSpPr txBox="1"/>
          <p:nvPr/>
        </p:nvSpPr>
        <p:spPr>
          <a:xfrm>
            <a:off x="3538728" y="3154680"/>
            <a:ext cx="2066544"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OD OBNs at Mero</a:t>
            </a:r>
            <a:endParaRPr lang="en-US" sz="1500" dirty="0"/>
          </a:p>
        </p:txBody>
      </p:sp>
      <p:sp>
        <p:nvSpPr>
          <p:cNvPr id="17" name="Text 13"/>
          <p:cNvSpPr txBox="1"/>
          <p:nvPr/>
        </p:nvSpPr>
        <p:spPr>
          <a:xfrm>
            <a:off x="3538728" y="3520440"/>
            <a:ext cx="2066544" cy="731520"/>
          </a:xfrm>
          <a:prstGeom prst="rect">
            <a:avLst/>
          </a:prstGeom>
          <a:noFill/>
          <a:ln/>
        </p:spPr>
        <p:txBody>
          <a:bodyPr wrap="square" lIns="0" tIns="0" rIns="0" bIns="0" rtlCol="0" anchor="t"/>
          <a:lstStyle/>
          <a:p>
            <a:pPr indent="0" marL="0">
              <a:buNone/>
            </a:pPr>
            <a:r>
              <a:rPr lang="en-US" sz="1150" dirty="0">
                <a:solidFill>
                  <a:srgbClr val="9FB3C8"/>
                </a:solidFill>
                <a:latin typeface="Calibri" pitchFamily="34" charset="0"/>
                <a:ea typeface="Calibri" pitchFamily="34" charset="-122"/>
                <a:cs typeface="Calibri" pitchFamily="34" charset="-120"/>
              </a:rPr>
              <a:t>First field deployment of On Demand Ocean Bottom Nodes, early 2026</a:t>
            </a:r>
            <a:endParaRPr lang="en-US" sz="1150" dirty="0"/>
          </a:p>
        </p:txBody>
      </p:sp>
      <p:sp>
        <p:nvSpPr>
          <p:cNvPr id="18" name="Shape 14"/>
          <p:cNvSpPr/>
          <p:nvPr/>
        </p:nvSpPr>
        <p:spPr>
          <a:xfrm>
            <a:off x="6071616" y="1417320"/>
            <a:ext cx="2615184" cy="3017520"/>
          </a:xfrm>
          <a:prstGeom prst="roundRect">
            <a:avLst>
              <a:gd name="adj" fmla="val 2797"/>
            </a:avLst>
          </a:prstGeom>
          <a:solidFill>
            <a:srgbClr val="0F2F4F"/>
          </a:solidFill>
          <a:ln w="9525">
            <a:solidFill>
              <a:srgbClr val="24507A"/>
            </a:solidFill>
            <a:prstDash val="solid"/>
          </a:ln>
        </p:spPr>
      </p:sp>
      <p:sp>
        <p:nvSpPr>
          <p:cNvPr id="19" name="Shape 15"/>
          <p:cNvSpPr/>
          <p:nvPr/>
        </p:nvSpPr>
        <p:spPr>
          <a:xfrm>
            <a:off x="6345936" y="1691640"/>
            <a:ext cx="502920" cy="502920"/>
          </a:xfrm>
          <a:prstGeom prst="ellipse">
            <a:avLst/>
          </a:prstGeom>
          <a:solidFill>
            <a:srgbClr val="0E8A5F"/>
          </a:solidFill>
          <a:ln/>
        </p:spPr>
      </p:sp>
      <p:pic>
        <p:nvPicPr>
          <p:cNvPr id="20" name="Image 2" descr="preencoded.png">    </p:cNvPr>
          <p:cNvPicPr>
            <a:picLocks noChangeAspect="1"/>
          </p:cNvPicPr>
          <p:nvPr/>
        </p:nvPicPr>
        <p:blipFill>
          <a:blip r:embed="rId4"/>
          <a:stretch>
            <a:fillRect/>
          </a:stretch>
        </p:blipFill>
        <p:spPr>
          <a:xfrm>
            <a:off x="6476695" y="1822399"/>
            <a:ext cx="241402" cy="241402"/>
          </a:xfrm>
          <a:prstGeom prst="rect">
            <a:avLst/>
          </a:prstGeom>
        </p:spPr>
      </p:pic>
      <p:sp>
        <p:nvSpPr>
          <p:cNvPr id="21" name="Text 16"/>
          <p:cNvSpPr txBox="1"/>
          <p:nvPr/>
        </p:nvSpPr>
        <p:spPr>
          <a:xfrm>
            <a:off x="6345936" y="2331720"/>
            <a:ext cx="2066544" cy="822960"/>
          </a:xfrm>
          <a:prstGeom prst="rect">
            <a:avLst/>
          </a:prstGeom>
          <a:noFill/>
          <a:ln/>
        </p:spPr>
        <p:txBody>
          <a:bodyPr wrap="square" lIns="0" tIns="0" rIns="0" bIns="0" rtlCol="0" anchor="ctr"/>
          <a:lstStyle/>
          <a:p>
            <a:pPr indent="0" marL="0">
              <a:buNone/>
            </a:pPr>
            <a:r>
              <a:rPr lang="en-US" sz="4800" b="1" dirty="0">
                <a:solidFill>
                  <a:srgbClr val="F2C12E"/>
                </a:solidFill>
                <a:latin typeface="Arial" pitchFamily="34" charset="0"/>
                <a:ea typeface="Arial" pitchFamily="34" charset="-122"/>
                <a:cs typeface="Arial" pitchFamily="34" charset="-120"/>
              </a:rPr>
              <a:t>2027</a:t>
            </a:r>
            <a:endParaRPr lang="en-US" sz="4800" dirty="0"/>
          </a:p>
        </p:txBody>
      </p:sp>
      <p:sp>
        <p:nvSpPr>
          <p:cNvPr id="22" name="Text 17"/>
          <p:cNvSpPr txBox="1"/>
          <p:nvPr/>
        </p:nvSpPr>
        <p:spPr>
          <a:xfrm>
            <a:off x="6345936" y="3154680"/>
            <a:ext cx="2066544"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commercial production</a:t>
            </a:r>
            <a:endParaRPr lang="en-US" sz="1500" dirty="0"/>
          </a:p>
        </p:txBody>
      </p:sp>
      <p:sp>
        <p:nvSpPr>
          <p:cNvPr id="23" name="Text 18"/>
          <p:cNvSpPr txBox="1"/>
          <p:nvPr/>
        </p:nvSpPr>
        <p:spPr>
          <a:xfrm>
            <a:off x="6345936" y="3520440"/>
            <a:ext cx="2066544" cy="731520"/>
          </a:xfrm>
          <a:prstGeom prst="rect">
            <a:avLst/>
          </a:prstGeom>
          <a:noFill/>
          <a:ln/>
        </p:spPr>
        <p:txBody>
          <a:bodyPr wrap="square" lIns="0" tIns="0" rIns="0" bIns="0" rtlCol="0" anchor="t"/>
          <a:lstStyle/>
          <a:p>
            <a:pPr indent="0" marL="0">
              <a:buNone/>
            </a:pPr>
            <a:r>
              <a:rPr lang="en-US" sz="1150" dirty="0">
                <a:solidFill>
                  <a:srgbClr val="9FB3C8"/>
                </a:solidFill>
                <a:latin typeface="Calibri" pitchFamily="34" charset="0"/>
                <a:ea typeface="Calibri" pitchFamily="34" charset="-122"/>
                <a:cs typeface="Calibri" pitchFamily="34" charset="-120"/>
              </a:rPr>
              <a:t>Scale-up could mean hundreds or thousands of nodes per field</a:t>
            </a:r>
            <a:endParaRPr lang="en-US" sz="1150" dirty="0"/>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92608"/>
            <a:ext cx="6400800" cy="228600"/>
          </a:xfrm>
          <a:prstGeom prst="rect">
            <a:avLst/>
          </a:prstGeom>
          <a:noFill/>
          <a:ln/>
        </p:spPr>
        <p:txBody>
          <a:bodyPr wrap="square" lIns="0" tIns="0" rIns="0" bIns="0" rtlCol="0" anchor="ctr"/>
          <a:lstStyle/>
          <a:p>
            <a:pPr indent="0" marL="0">
              <a:buNone/>
            </a:pPr>
            <a:r>
              <a:rPr lang="en-US" sz="1000" b="1" spc="300" kern="0" dirty="0">
                <a:solidFill>
                  <a:srgbClr val="17B584"/>
                </a:solidFill>
                <a:latin typeface="Calibri" pitchFamily="34" charset="0"/>
                <a:ea typeface="Calibri" pitchFamily="34" charset="-122"/>
                <a:cs typeface="Calibri" pitchFamily="34" charset="-120"/>
              </a:rPr>
              <a:t>OUR HISTORY</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Two decades on the ground built today's trust</a:t>
            </a:r>
            <a:endParaRPr lang="en-US" sz="2400" dirty="0"/>
          </a:p>
        </p:txBody>
      </p:sp>
      <p:sp>
        <p:nvSpPr>
          <p:cNvPr id="4" name="Text 2"/>
          <p:cNvSpPr txBox="1"/>
          <p:nvPr/>
        </p:nvSpPr>
        <p:spPr>
          <a:xfrm>
            <a:off x="457200" y="4754880"/>
            <a:ext cx="2743200" cy="201168"/>
          </a:xfrm>
          <a:prstGeom prst="rect">
            <a:avLst/>
          </a:prstGeom>
          <a:noFill/>
          <a:ln/>
        </p:spPr>
        <p:txBody>
          <a:bodyPr wrap="square" lIns="0" tIns="0" rIns="0" bIns="0" rtlCol="0" anchor="ctr"/>
          <a:lstStyle/>
          <a:p>
            <a:pPr indent="0" marL="0">
              <a:buNone/>
            </a:pPr>
            <a:r>
              <a:rPr lang="en-US" sz="900" dirty="0">
                <a:solidFill>
                  <a:srgbClr val="6F87A0"/>
                </a:solidFill>
                <a:latin typeface="Calibri" pitchFamily="34" charset="0"/>
                <a:ea typeface="Calibri" pitchFamily="34" charset="-122"/>
                <a:cs typeface="Calibri" pitchFamily="34" charset="-120"/>
              </a:rPr>
              <a:t>Sonardyne in Brazil</a:t>
            </a:r>
            <a:endParaRPr lang="en-US" sz="900" dirty="0"/>
          </a:p>
        </p:txBody>
      </p:sp>
      <p:sp>
        <p:nvSpPr>
          <p:cNvPr id="5" name="Text 3"/>
          <p:cNvSpPr txBox="1"/>
          <p:nvPr/>
        </p:nvSpPr>
        <p:spPr>
          <a:xfrm>
            <a:off x="7772400" y="4754880"/>
            <a:ext cx="914400" cy="201168"/>
          </a:xfrm>
          <a:prstGeom prst="rect">
            <a:avLst/>
          </a:prstGeom>
          <a:noFill/>
          <a:ln/>
        </p:spPr>
        <p:txBody>
          <a:bodyPr wrap="square" lIns="0" tIns="0" rIns="0" bIns="0" rtlCol="0" anchor="ctr"/>
          <a:lstStyle/>
          <a:p>
            <a:pPr algn="r" indent="0" marL="0">
              <a:buNone/>
            </a:pPr>
            <a:r>
              <a:rPr lang="en-US" sz="900" dirty="0">
                <a:solidFill>
                  <a:srgbClr val="6F87A0"/>
                </a:solidFill>
                <a:latin typeface="Calibri" pitchFamily="34" charset="0"/>
                <a:ea typeface="Calibri" pitchFamily="34" charset="-122"/>
                <a:cs typeface="Calibri" pitchFamily="34" charset="-120"/>
              </a:rPr>
              <a:t>03 / 12</a:t>
            </a:r>
            <a:endParaRPr lang="en-US" sz="900" dirty="0"/>
          </a:p>
        </p:txBody>
      </p:sp>
      <p:sp>
        <p:nvSpPr>
          <p:cNvPr id="6" name="Shape 4"/>
          <p:cNvSpPr/>
          <p:nvPr/>
        </p:nvSpPr>
        <p:spPr>
          <a:xfrm>
            <a:off x="914400" y="1920240"/>
            <a:ext cx="7315200" cy="0"/>
          </a:xfrm>
          <a:prstGeom prst="line">
            <a:avLst/>
          </a:prstGeom>
          <a:noFill/>
          <a:ln w="25400">
            <a:solidFill>
              <a:srgbClr val="24507A"/>
            </a:solidFill>
            <a:prstDash val="solid"/>
          </a:ln>
        </p:spPr>
      </p:sp>
      <p:sp>
        <p:nvSpPr>
          <p:cNvPr id="7" name="Shape 5"/>
          <p:cNvSpPr/>
          <p:nvPr/>
        </p:nvSpPr>
        <p:spPr>
          <a:xfrm>
            <a:off x="813816" y="1819656"/>
            <a:ext cx="201168" cy="201168"/>
          </a:xfrm>
          <a:prstGeom prst="ellipse">
            <a:avLst/>
          </a:prstGeom>
          <a:solidFill>
            <a:srgbClr val="17B584"/>
          </a:solidFill>
          <a:ln w="25400">
            <a:solidFill>
              <a:srgbClr val="061829"/>
            </a:solidFill>
            <a:prstDash val="solid"/>
          </a:ln>
        </p:spPr>
      </p:sp>
      <p:sp>
        <p:nvSpPr>
          <p:cNvPr id="8" name="Text 6"/>
          <p:cNvSpPr txBox="1"/>
          <p:nvPr/>
        </p:nvSpPr>
        <p:spPr>
          <a:xfrm>
            <a:off x="274320" y="1353312"/>
            <a:ext cx="128016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2015</a:t>
            </a:r>
            <a:endParaRPr lang="en-US" sz="1800" dirty="0"/>
          </a:p>
        </p:txBody>
      </p:sp>
      <p:sp>
        <p:nvSpPr>
          <p:cNvPr id="9" name="Text 7"/>
          <p:cNvSpPr txBox="1"/>
          <p:nvPr/>
        </p:nvSpPr>
        <p:spPr>
          <a:xfrm>
            <a:off x="237744" y="2148840"/>
            <a:ext cx="1353312" cy="1005840"/>
          </a:xfrm>
          <a:prstGeom prst="rect">
            <a:avLst/>
          </a:prstGeom>
          <a:noFill/>
          <a:ln/>
        </p:spPr>
        <p:txBody>
          <a:bodyPr wrap="square" lIns="0" tIns="0" rIns="0" bIns="0" rtlCol="0" anchor="t"/>
          <a:lstStyle/>
          <a:p>
            <a:pPr algn="ctr" indent="0" marL="0">
              <a:buNone/>
            </a:pPr>
            <a:r>
              <a:rPr lang="en-US" sz="1050" dirty="0">
                <a:solidFill>
                  <a:srgbClr val="9FB3C8"/>
                </a:solidFill>
                <a:latin typeface="Calibri" pitchFamily="34" charset="0"/>
                <a:ea typeface="Calibri" pitchFamily="34" charset="-122"/>
                <a:cs typeface="Calibri" pitchFamily="34" charset="-120"/>
              </a:rPr>
              <a:t>Second office opens in central Rio, alongside the Rio das Ostras base</a:t>
            </a:r>
            <a:endParaRPr lang="en-US" sz="1050" dirty="0"/>
          </a:p>
        </p:txBody>
      </p:sp>
      <p:sp>
        <p:nvSpPr>
          <p:cNvPr id="10" name="Shape 8"/>
          <p:cNvSpPr/>
          <p:nvPr/>
        </p:nvSpPr>
        <p:spPr>
          <a:xfrm>
            <a:off x="2276856" y="1819656"/>
            <a:ext cx="201168" cy="201168"/>
          </a:xfrm>
          <a:prstGeom prst="ellipse">
            <a:avLst/>
          </a:prstGeom>
          <a:solidFill>
            <a:srgbClr val="17B584"/>
          </a:solidFill>
          <a:ln w="25400">
            <a:solidFill>
              <a:srgbClr val="061829"/>
            </a:solidFill>
            <a:prstDash val="solid"/>
          </a:ln>
        </p:spPr>
      </p:sp>
      <p:sp>
        <p:nvSpPr>
          <p:cNvPr id="11" name="Text 9"/>
          <p:cNvSpPr txBox="1"/>
          <p:nvPr/>
        </p:nvSpPr>
        <p:spPr>
          <a:xfrm>
            <a:off x="1737360" y="1353312"/>
            <a:ext cx="128016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2016</a:t>
            </a:r>
            <a:endParaRPr lang="en-US" sz="1800" dirty="0"/>
          </a:p>
        </p:txBody>
      </p:sp>
      <p:sp>
        <p:nvSpPr>
          <p:cNvPr id="12" name="Text 10"/>
          <p:cNvSpPr txBox="1"/>
          <p:nvPr/>
        </p:nvSpPr>
        <p:spPr>
          <a:xfrm>
            <a:off x="1700784" y="2148840"/>
            <a:ext cx="1353312" cy="1005840"/>
          </a:xfrm>
          <a:prstGeom prst="rect">
            <a:avLst/>
          </a:prstGeom>
          <a:noFill/>
          <a:ln/>
        </p:spPr>
        <p:txBody>
          <a:bodyPr wrap="square" lIns="0" tIns="0" rIns="0" bIns="0" rtlCol="0" anchor="t"/>
          <a:lstStyle/>
          <a:p>
            <a:pPr algn="ctr" indent="0" marL="0">
              <a:buNone/>
            </a:pPr>
            <a:r>
              <a:rPr lang="en-US" sz="1050" dirty="0">
                <a:solidFill>
                  <a:srgbClr val="9FB3C8"/>
                </a:solidFill>
                <a:latin typeface="Calibri" pitchFamily="34" charset="0"/>
                <a:ea typeface="Calibri" pitchFamily="34" charset="-122"/>
                <a:cs typeface="Calibri" pitchFamily="34" charset="-120"/>
              </a:rPr>
              <a:t>Ranger 2 + GyroUSBL 7000 on Fugro Aquarius for Petrobras ROV work to 3,000 m</a:t>
            </a:r>
            <a:endParaRPr lang="en-US" sz="1050" dirty="0"/>
          </a:p>
        </p:txBody>
      </p:sp>
      <p:sp>
        <p:nvSpPr>
          <p:cNvPr id="13" name="Shape 11"/>
          <p:cNvSpPr/>
          <p:nvPr/>
        </p:nvSpPr>
        <p:spPr>
          <a:xfrm>
            <a:off x="3739896" y="1819656"/>
            <a:ext cx="201168" cy="201168"/>
          </a:xfrm>
          <a:prstGeom prst="ellipse">
            <a:avLst/>
          </a:prstGeom>
          <a:solidFill>
            <a:srgbClr val="17B584"/>
          </a:solidFill>
          <a:ln w="25400">
            <a:solidFill>
              <a:srgbClr val="061829"/>
            </a:solidFill>
            <a:prstDash val="solid"/>
          </a:ln>
        </p:spPr>
      </p:sp>
      <p:sp>
        <p:nvSpPr>
          <p:cNvPr id="14" name="Text 12"/>
          <p:cNvSpPr txBox="1"/>
          <p:nvPr/>
        </p:nvSpPr>
        <p:spPr>
          <a:xfrm>
            <a:off x="3200400" y="1353312"/>
            <a:ext cx="128016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2018</a:t>
            </a:r>
            <a:endParaRPr lang="en-US" sz="1800" dirty="0"/>
          </a:p>
        </p:txBody>
      </p:sp>
      <p:sp>
        <p:nvSpPr>
          <p:cNvPr id="15" name="Text 13"/>
          <p:cNvSpPr txBox="1"/>
          <p:nvPr/>
        </p:nvSpPr>
        <p:spPr>
          <a:xfrm>
            <a:off x="3163824" y="2148840"/>
            <a:ext cx="1353312" cy="1005840"/>
          </a:xfrm>
          <a:prstGeom prst="rect">
            <a:avLst/>
          </a:prstGeom>
          <a:noFill/>
          <a:ln/>
        </p:spPr>
        <p:txBody>
          <a:bodyPr wrap="square" lIns="0" tIns="0" rIns="0" bIns="0" rtlCol="0" anchor="t"/>
          <a:lstStyle/>
          <a:p>
            <a:pPr algn="ctr" indent="0" marL="0">
              <a:buNone/>
            </a:pPr>
            <a:r>
              <a:rPr lang="en-US" sz="1050" dirty="0">
                <a:solidFill>
                  <a:srgbClr val="9FB3C8"/>
                </a:solidFill>
                <a:latin typeface="Calibri" pitchFamily="34" charset="0"/>
                <a:ea typeface="Calibri" pitchFamily="34" charset="-122"/>
                <a:cs typeface="Calibri" pitchFamily="34" charset="-120"/>
              </a:rPr>
              <a:t>OD OBN programme starts with Shell, Petrobras and SENAI CIMATEC</a:t>
            </a:r>
            <a:endParaRPr lang="en-US" sz="1050" dirty="0"/>
          </a:p>
        </p:txBody>
      </p:sp>
      <p:sp>
        <p:nvSpPr>
          <p:cNvPr id="16" name="Shape 14"/>
          <p:cNvSpPr/>
          <p:nvPr/>
        </p:nvSpPr>
        <p:spPr>
          <a:xfrm>
            <a:off x="5202936" y="1819656"/>
            <a:ext cx="201168" cy="201168"/>
          </a:xfrm>
          <a:prstGeom prst="ellipse">
            <a:avLst/>
          </a:prstGeom>
          <a:solidFill>
            <a:srgbClr val="17B584"/>
          </a:solidFill>
          <a:ln w="25400">
            <a:solidFill>
              <a:srgbClr val="061829"/>
            </a:solidFill>
            <a:prstDash val="solid"/>
          </a:ln>
        </p:spPr>
      </p:sp>
      <p:sp>
        <p:nvSpPr>
          <p:cNvPr id="17" name="Text 15"/>
          <p:cNvSpPr txBox="1"/>
          <p:nvPr/>
        </p:nvSpPr>
        <p:spPr>
          <a:xfrm>
            <a:off x="4663440" y="1353312"/>
            <a:ext cx="128016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2020</a:t>
            </a:r>
            <a:endParaRPr lang="en-US" sz="1800" dirty="0"/>
          </a:p>
        </p:txBody>
      </p:sp>
      <p:sp>
        <p:nvSpPr>
          <p:cNvPr id="18" name="Text 16"/>
          <p:cNvSpPr txBox="1"/>
          <p:nvPr/>
        </p:nvSpPr>
        <p:spPr>
          <a:xfrm>
            <a:off x="4626864" y="2148840"/>
            <a:ext cx="1353312" cy="1005840"/>
          </a:xfrm>
          <a:prstGeom prst="rect">
            <a:avLst/>
          </a:prstGeom>
          <a:noFill/>
          <a:ln/>
        </p:spPr>
        <p:txBody>
          <a:bodyPr wrap="square" lIns="0" tIns="0" rIns="0" bIns="0" rtlCol="0" anchor="t"/>
          <a:lstStyle/>
          <a:p>
            <a:pPr algn="ctr" indent="0" marL="0">
              <a:buNone/>
            </a:pPr>
            <a:r>
              <a:rPr lang="en-US" sz="1050" dirty="0">
                <a:solidFill>
                  <a:srgbClr val="9FB3C8"/>
                </a:solidFill>
                <a:latin typeface="Calibri" pitchFamily="34" charset="0"/>
                <a:ea typeface="Calibri" pitchFamily="34" charset="-122"/>
                <a:cs typeface="Calibri" pitchFamily="34" charset="-120"/>
              </a:rPr>
              <a:t>Orders from OceanPact and C-Innovation (six vessels)</a:t>
            </a:r>
            <a:endParaRPr lang="en-US" sz="1050" dirty="0"/>
          </a:p>
        </p:txBody>
      </p:sp>
      <p:sp>
        <p:nvSpPr>
          <p:cNvPr id="19" name="Shape 17"/>
          <p:cNvSpPr/>
          <p:nvPr/>
        </p:nvSpPr>
        <p:spPr>
          <a:xfrm>
            <a:off x="6665976" y="1819656"/>
            <a:ext cx="201168" cy="201168"/>
          </a:xfrm>
          <a:prstGeom prst="ellipse">
            <a:avLst/>
          </a:prstGeom>
          <a:solidFill>
            <a:srgbClr val="17B584"/>
          </a:solidFill>
          <a:ln w="25400">
            <a:solidFill>
              <a:srgbClr val="061829"/>
            </a:solidFill>
            <a:prstDash val="solid"/>
          </a:ln>
        </p:spPr>
      </p:sp>
      <p:sp>
        <p:nvSpPr>
          <p:cNvPr id="20" name="Text 18"/>
          <p:cNvSpPr txBox="1"/>
          <p:nvPr/>
        </p:nvSpPr>
        <p:spPr>
          <a:xfrm>
            <a:off x="6126480" y="1353312"/>
            <a:ext cx="128016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2025</a:t>
            </a:r>
            <a:endParaRPr lang="en-US" sz="1800" dirty="0"/>
          </a:p>
        </p:txBody>
      </p:sp>
      <p:sp>
        <p:nvSpPr>
          <p:cNvPr id="21" name="Text 19"/>
          <p:cNvSpPr txBox="1"/>
          <p:nvPr/>
        </p:nvSpPr>
        <p:spPr>
          <a:xfrm>
            <a:off x="6089904" y="2148840"/>
            <a:ext cx="1353312" cy="1005840"/>
          </a:xfrm>
          <a:prstGeom prst="rect">
            <a:avLst/>
          </a:prstGeom>
          <a:noFill/>
          <a:ln/>
        </p:spPr>
        <p:txBody>
          <a:bodyPr wrap="square" lIns="0" tIns="0" rIns="0" bIns="0" rtlCol="0" anchor="t"/>
          <a:lstStyle/>
          <a:p>
            <a:pPr algn="ctr" indent="0" marL="0">
              <a:buNone/>
            </a:pPr>
            <a:r>
              <a:rPr lang="en-US" sz="1050" dirty="0">
                <a:solidFill>
                  <a:srgbClr val="9FB3C8"/>
                </a:solidFill>
                <a:latin typeface="Calibri" pitchFamily="34" charset="0"/>
                <a:ea typeface="Calibri" pitchFamily="34" charset="-122"/>
                <a:cs typeface="Calibri" pitchFamily="34" charset="-120"/>
              </a:rPr>
              <a:t>OD OBN final tests after 2,000+ days of deepwater trials</a:t>
            </a:r>
            <a:endParaRPr lang="en-US" sz="1050" dirty="0"/>
          </a:p>
        </p:txBody>
      </p:sp>
      <p:sp>
        <p:nvSpPr>
          <p:cNvPr id="22" name="Shape 20"/>
          <p:cNvSpPr/>
          <p:nvPr/>
        </p:nvSpPr>
        <p:spPr>
          <a:xfrm>
            <a:off x="8129016" y="1819656"/>
            <a:ext cx="201168" cy="201168"/>
          </a:xfrm>
          <a:prstGeom prst="ellipse">
            <a:avLst/>
          </a:prstGeom>
          <a:solidFill>
            <a:srgbClr val="F2C12E"/>
          </a:solidFill>
          <a:ln w="25400">
            <a:solidFill>
              <a:srgbClr val="061829"/>
            </a:solidFill>
            <a:prstDash val="solid"/>
          </a:ln>
        </p:spPr>
      </p:sp>
      <p:sp>
        <p:nvSpPr>
          <p:cNvPr id="23" name="Text 21"/>
          <p:cNvSpPr txBox="1"/>
          <p:nvPr/>
        </p:nvSpPr>
        <p:spPr>
          <a:xfrm>
            <a:off x="7589520" y="1353312"/>
            <a:ext cx="1280160" cy="365760"/>
          </a:xfrm>
          <a:prstGeom prst="rect">
            <a:avLst/>
          </a:prstGeom>
          <a:noFill/>
          <a:ln/>
        </p:spPr>
        <p:txBody>
          <a:bodyPr wrap="square" lIns="0" tIns="0" rIns="0" bIns="0" rtlCol="0" anchor="ctr"/>
          <a:lstStyle/>
          <a:p>
            <a:pPr algn="ctr" indent="0" marL="0">
              <a:buNone/>
            </a:pPr>
            <a:r>
              <a:rPr lang="en-US" sz="1800" b="1" dirty="0">
                <a:solidFill>
                  <a:srgbClr val="F2C12E"/>
                </a:solidFill>
                <a:latin typeface="Arial" pitchFamily="34" charset="0"/>
                <a:ea typeface="Arial" pitchFamily="34" charset="-122"/>
                <a:cs typeface="Arial" pitchFamily="34" charset="-120"/>
              </a:rPr>
              <a:t>2026</a:t>
            </a:r>
            <a:endParaRPr lang="en-US" sz="1800" dirty="0"/>
          </a:p>
        </p:txBody>
      </p:sp>
      <p:sp>
        <p:nvSpPr>
          <p:cNvPr id="24" name="Text 22"/>
          <p:cNvSpPr txBox="1"/>
          <p:nvPr/>
        </p:nvSpPr>
        <p:spPr>
          <a:xfrm>
            <a:off x="7552944" y="2148840"/>
            <a:ext cx="1353312" cy="1005840"/>
          </a:xfrm>
          <a:prstGeom prst="rect">
            <a:avLst/>
          </a:prstGeom>
          <a:noFill/>
          <a:ln/>
        </p:spPr>
        <p:txBody>
          <a:bodyPr wrap="square" lIns="0" tIns="0" rIns="0" bIns="0" rtlCol="0" anchor="t"/>
          <a:lstStyle/>
          <a:p>
            <a:pPr algn="ctr" indent="0" marL="0">
              <a:buNone/>
            </a:pPr>
            <a:r>
              <a:rPr lang="en-US" sz="1050" dirty="0">
                <a:solidFill>
                  <a:srgbClr val="9FB3C8"/>
                </a:solidFill>
                <a:latin typeface="Calibri" pitchFamily="34" charset="0"/>
                <a:ea typeface="Calibri" pitchFamily="34" charset="-122"/>
                <a:cs typeface="Calibri" pitchFamily="34" charset="-120"/>
              </a:rPr>
              <a:t>First 84 OD OBNs deployed at Mero</a:t>
            </a:r>
            <a:endParaRPr lang="en-US" sz="1050" dirty="0"/>
          </a:p>
        </p:txBody>
      </p:sp>
      <p:sp>
        <p:nvSpPr>
          <p:cNvPr id="25" name="Shape 23"/>
          <p:cNvSpPr/>
          <p:nvPr/>
        </p:nvSpPr>
        <p:spPr>
          <a:xfrm>
            <a:off x="457200" y="3429000"/>
            <a:ext cx="8229600" cy="1097280"/>
          </a:xfrm>
          <a:prstGeom prst="roundRect">
            <a:avLst>
              <a:gd name="adj" fmla="val 6667"/>
            </a:avLst>
          </a:prstGeom>
          <a:solidFill>
            <a:srgbClr val="143A60"/>
          </a:solidFill>
          <a:ln w="9525">
            <a:solidFill>
              <a:srgbClr val="24507A"/>
            </a:solidFill>
            <a:prstDash val="solid"/>
          </a:ln>
        </p:spPr>
      </p:sp>
      <p:sp>
        <p:nvSpPr>
          <p:cNvPr id="26" name="Shape 24"/>
          <p:cNvSpPr/>
          <p:nvPr/>
        </p:nvSpPr>
        <p:spPr>
          <a:xfrm>
            <a:off x="731520" y="3703320"/>
            <a:ext cx="548640" cy="548640"/>
          </a:xfrm>
          <a:prstGeom prst="ellipse">
            <a:avLst/>
          </a:prstGeom>
          <a:solidFill>
            <a:srgbClr val="F2C12E"/>
          </a:solidFill>
          <a:ln/>
        </p:spPr>
      </p:sp>
      <p:pic>
        <p:nvPicPr>
          <p:cNvPr id="27" name="Image 0" descr="preencoded.png">    </p:cNvPr>
          <p:cNvPicPr>
            <a:picLocks noChangeAspect="1"/>
          </p:cNvPicPr>
          <p:nvPr/>
        </p:nvPicPr>
        <p:blipFill>
          <a:blip r:embed="rId2"/>
          <a:stretch>
            <a:fillRect/>
          </a:stretch>
        </p:blipFill>
        <p:spPr>
          <a:xfrm>
            <a:off x="874166" y="3845966"/>
            <a:ext cx="263347" cy="263347"/>
          </a:xfrm>
          <a:prstGeom prst="rect">
            <a:avLst/>
          </a:prstGeom>
        </p:spPr>
      </p:pic>
      <p:sp>
        <p:nvSpPr>
          <p:cNvPr id="28" name="Text 25"/>
          <p:cNvSpPr txBox="1"/>
          <p:nvPr/>
        </p:nvSpPr>
        <p:spPr>
          <a:xfrm>
            <a:off x="1508760" y="3566160"/>
            <a:ext cx="6949440" cy="8229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Portuguese-speaking support staff are a key reason operators stay with Sonardyne.</a:t>
            </a:r>
            <a:endParaRPr lang="en-US" sz="1400" dirty="0"/>
          </a:p>
          <a:p>
            <a:pPr indent="0" marL="0">
              <a:buNone/>
            </a:pPr>
            <a:r>
              <a:rPr lang="en-US" sz="1050" dirty="0">
                <a:solidFill>
                  <a:srgbClr val="9FB3C8"/>
                </a:solidFill>
                <a:latin typeface="Calibri" pitchFamily="34" charset="0"/>
                <a:ea typeface="Calibri" pitchFamily="34" charset="-122"/>
                <a:cs typeface="Calibri" pitchFamily="34" charset="-120"/>
              </a:rPr>
              <a:t>C-Innovation, 2022 case study. Sonardyne Brasil Ltda kept its office open through downturns and COVID-19.</a:t>
            </a:r>
            <a:endParaRPr lang="en-US" sz="1400" dirty="0"/>
          </a:p>
        </p:txBody>
      </p:sp>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92608"/>
            <a:ext cx="6400800" cy="228600"/>
          </a:xfrm>
          <a:prstGeom prst="rect">
            <a:avLst/>
          </a:prstGeom>
          <a:noFill/>
          <a:ln/>
        </p:spPr>
        <p:txBody>
          <a:bodyPr wrap="square" lIns="0" tIns="0" rIns="0" bIns="0" rtlCol="0" anchor="ctr"/>
          <a:lstStyle/>
          <a:p>
            <a:pPr indent="0" marL="0">
              <a:buNone/>
            </a:pPr>
            <a:r>
              <a:rPr lang="en-US" sz="1000" b="1" spc="300" kern="0" dirty="0">
                <a:solidFill>
                  <a:srgbClr val="17B584"/>
                </a:solidFill>
                <a:latin typeface="Calibri" pitchFamily="34" charset="0"/>
                <a:ea typeface="Calibri" pitchFamily="34" charset="-122"/>
                <a:cs typeface="Calibri" pitchFamily="34" charset="-120"/>
              </a:rPr>
              <a:t>ECOSYSTEM</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Operators, researchers and vessel owners</a:t>
            </a:r>
            <a:endParaRPr lang="en-US" sz="2400" dirty="0"/>
          </a:p>
        </p:txBody>
      </p:sp>
      <p:sp>
        <p:nvSpPr>
          <p:cNvPr id="4" name="Text 2"/>
          <p:cNvSpPr txBox="1"/>
          <p:nvPr/>
        </p:nvSpPr>
        <p:spPr>
          <a:xfrm>
            <a:off x="457200" y="4754880"/>
            <a:ext cx="2743200" cy="201168"/>
          </a:xfrm>
          <a:prstGeom prst="rect">
            <a:avLst/>
          </a:prstGeom>
          <a:noFill/>
          <a:ln/>
        </p:spPr>
        <p:txBody>
          <a:bodyPr wrap="square" lIns="0" tIns="0" rIns="0" bIns="0" rtlCol="0" anchor="ctr"/>
          <a:lstStyle/>
          <a:p>
            <a:pPr indent="0" marL="0">
              <a:buNone/>
            </a:pPr>
            <a:r>
              <a:rPr lang="en-US" sz="900" dirty="0">
                <a:solidFill>
                  <a:srgbClr val="6F87A0"/>
                </a:solidFill>
                <a:latin typeface="Calibri" pitchFamily="34" charset="0"/>
                <a:ea typeface="Calibri" pitchFamily="34" charset="-122"/>
                <a:cs typeface="Calibri" pitchFamily="34" charset="-120"/>
              </a:rPr>
              <a:t>Sonardyne in Brazil</a:t>
            </a:r>
            <a:endParaRPr lang="en-US" sz="900" dirty="0"/>
          </a:p>
        </p:txBody>
      </p:sp>
      <p:sp>
        <p:nvSpPr>
          <p:cNvPr id="5" name="Text 3"/>
          <p:cNvSpPr txBox="1"/>
          <p:nvPr/>
        </p:nvSpPr>
        <p:spPr>
          <a:xfrm>
            <a:off x="7772400" y="4754880"/>
            <a:ext cx="914400" cy="201168"/>
          </a:xfrm>
          <a:prstGeom prst="rect">
            <a:avLst/>
          </a:prstGeom>
          <a:noFill/>
          <a:ln/>
        </p:spPr>
        <p:txBody>
          <a:bodyPr wrap="square" lIns="0" tIns="0" rIns="0" bIns="0" rtlCol="0" anchor="ctr"/>
          <a:lstStyle/>
          <a:p>
            <a:pPr algn="r" indent="0" marL="0">
              <a:buNone/>
            </a:pPr>
            <a:r>
              <a:rPr lang="en-US" sz="900" dirty="0">
                <a:solidFill>
                  <a:srgbClr val="6F87A0"/>
                </a:solidFill>
                <a:latin typeface="Calibri" pitchFamily="34" charset="0"/>
                <a:ea typeface="Calibri" pitchFamily="34" charset="-122"/>
                <a:cs typeface="Calibri" pitchFamily="34" charset="-120"/>
              </a:rPr>
              <a:t>04 / 12</a:t>
            </a:r>
            <a:endParaRPr lang="en-US" sz="900" dirty="0"/>
          </a:p>
        </p:txBody>
      </p:sp>
      <p:sp>
        <p:nvSpPr>
          <p:cNvPr id="6" name="Shape 4"/>
          <p:cNvSpPr/>
          <p:nvPr/>
        </p:nvSpPr>
        <p:spPr>
          <a:xfrm>
            <a:off x="457200" y="1325880"/>
            <a:ext cx="2615184" cy="3200400"/>
          </a:xfrm>
          <a:prstGeom prst="roundRect">
            <a:avLst>
              <a:gd name="adj" fmla="val 2797"/>
            </a:avLst>
          </a:prstGeom>
          <a:solidFill>
            <a:srgbClr val="0F2F4F"/>
          </a:solidFill>
          <a:ln w="9525">
            <a:solidFill>
              <a:srgbClr val="24507A"/>
            </a:solidFill>
            <a:prstDash val="solid"/>
          </a:ln>
        </p:spPr>
      </p:sp>
      <p:sp>
        <p:nvSpPr>
          <p:cNvPr id="7" name="Shape 5"/>
          <p:cNvSpPr/>
          <p:nvPr/>
        </p:nvSpPr>
        <p:spPr>
          <a:xfrm>
            <a:off x="685800" y="1554480"/>
            <a:ext cx="457200" cy="457200"/>
          </a:xfrm>
          <a:prstGeom prst="ellipse">
            <a:avLst/>
          </a:prstGeom>
          <a:solidFill>
            <a:srgbClr val="0E8A5F"/>
          </a:solidFill>
          <a:ln/>
        </p:spPr>
      </p:sp>
      <p:pic>
        <p:nvPicPr>
          <p:cNvPr id="8" name="Image 0" descr="preencoded.png">    </p:cNvPr>
          <p:cNvPicPr>
            <a:picLocks noChangeAspect="1"/>
          </p:cNvPicPr>
          <p:nvPr/>
        </p:nvPicPr>
        <p:blipFill>
          <a:blip r:embed="rId2"/>
          <a:stretch>
            <a:fillRect/>
          </a:stretch>
        </p:blipFill>
        <p:spPr>
          <a:xfrm>
            <a:off x="804672" y="1673352"/>
            <a:ext cx="219456" cy="219456"/>
          </a:xfrm>
          <a:prstGeom prst="rect">
            <a:avLst/>
          </a:prstGeom>
        </p:spPr>
      </p:pic>
      <p:sp>
        <p:nvSpPr>
          <p:cNvPr id="9" name="Text 6"/>
          <p:cNvSpPr txBox="1"/>
          <p:nvPr/>
        </p:nvSpPr>
        <p:spPr>
          <a:xfrm>
            <a:off x="1280160" y="1554480"/>
            <a:ext cx="1655064" cy="45720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Operators</a:t>
            </a:r>
            <a:endParaRPr lang="en-US" sz="1400" dirty="0"/>
          </a:p>
        </p:txBody>
      </p:sp>
      <p:sp>
        <p:nvSpPr>
          <p:cNvPr id="10" name="Text 7"/>
          <p:cNvSpPr txBox="1"/>
          <p:nvPr/>
        </p:nvSpPr>
        <p:spPr>
          <a:xfrm>
            <a:off x="685800" y="2240280"/>
            <a:ext cx="2157984" cy="640080"/>
          </a:xfrm>
          <a:prstGeom prst="rect">
            <a:avLst/>
          </a:prstGeom>
          <a:noFill/>
          <a:ln/>
        </p:spPr>
        <p:txBody>
          <a:bodyPr wrap="square" lIns="0" tIns="0" rIns="0" bIns="0" rtlCol="0" anchor="t"/>
          <a:lstStyle/>
          <a:p>
            <a:pPr indent="0" marL="0">
              <a:buNone/>
            </a:pPr>
            <a:r>
              <a:rPr lang="en-US" sz="1300" b="1" dirty="0">
                <a:solidFill>
                  <a:srgbClr val="F2C12E"/>
                </a:solidFill>
                <a:latin typeface="Calibri" pitchFamily="34" charset="0"/>
                <a:ea typeface="Calibri" pitchFamily="34" charset="-122"/>
                <a:cs typeface="Calibri" pitchFamily="34" charset="-120"/>
              </a:rPr>
              <a:t>Petrobras</a:t>
            </a:r>
            <a:endParaRPr lang="en-US" sz="1300" dirty="0"/>
          </a:p>
          <a:p>
            <a:pPr indent="0" marL="0">
              <a:buNone/>
            </a:pPr>
            <a:r>
              <a:rPr lang="en-US" sz="1050" dirty="0">
                <a:solidFill>
                  <a:srgbClr val="9FB3C8"/>
                </a:solidFill>
                <a:latin typeface="Calibri" pitchFamily="34" charset="0"/>
                <a:ea typeface="Calibri" pitchFamily="34" charset="-122"/>
                <a:cs typeface="Calibri" pitchFamily="34" charset="-120"/>
              </a:rPr>
              <a:t>Mero operator; R&amp;D via CENPES</a:t>
            </a:r>
            <a:endParaRPr lang="en-US" sz="1300" dirty="0"/>
          </a:p>
        </p:txBody>
      </p:sp>
      <p:sp>
        <p:nvSpPr>
          <p:cNvPr id="11" name="Text 8"/>
          <p:cNvSpPr txBox="1"/>
          <p:nvPr/>
        </p:nvSpPr>
        <p:spPr>
          <a:xfrm>
            <a:off x="685800" y="2971800"/>
            <a:ext cx="2157984" cy="640080"/>
          </a:xfrm>
          <a:prstGeom prst="rect">
            <a:avLst/>
          </a:prstGeom>
          <a:noFill/>
          <a:ln/>
        </p:spPr>
        <p:txBody>
          <a:bodyPr wrap="square" lIns="0" tIns="0" rIns="0" bIns="0" rtlCol="0" anchor="t"/>
          <a:lstStyle/>
          <a:p>
            <a:pPr indent="0" marL="0">
              <a:buNone/>
            </a:pPr>
            <a:r>
              <a:rPr lang="en-US" sz="1300" b="1" dirty="0">
                <a:solidFill>
                  <a:srgbClr val="F2C12E"/>
                </a:solidFill>
                <a:latin typeface="Calibri" pitchFamily="34" charset="0"/>
                <a:ea typeface="Calibri" pitchFamily="34" charset="-122"/>
                <a:cs typeface="Calibri" pitchFamily="34" charset="-120"/>
              </a:rPr>
              <a:t>Shell Brasil</a:t>
            </a:r>
            <a:endParaRPr lang="en-US" sz="1300" dirty="0"/>
          </a:p>
          <a:p>
            <a:pPr indent="0" marL="0">
              <a:buNone/>
            </a:pPr>
            <a:r>
              <a:rPr lang="en-US" sz="1050" dirty="0">
                <a:solidFill>
                  <a:srgbClr val="9FB3C8"/>
                </a:solidFill>
                <a:latin typeface="Calibri" pitchFamily="34" charset="0"/>
                <a:ea typeface="Calibri" pitchFamily="34" charset="-122"/>
                <a:cs typeface="Calibri" pitchFamily="34" charset="-120"/>
              </a:rPr>
              <a:t>Co-leads OD OBN; 19.3% of Mero</a:t>
            </a:r>
            <a:endParaRPr lang="en-US" sz="1300" dirty="0"/>
          </a:p>
        </p:txBody>
      </p:sp>
      <p:sp>
        <p:nvSpPr>
          <p:cNvPr id="12" name="Text 9"/>
          <p:cNvSpPr txBox="1"/>
          <p:nvPr/>
        </p:nvSpPr>
        <p:spPr>
          <a:xfrm>
            <a:off x="685800" y="3703320"/>
            <a:ext cx="2157984" cy="640080"/>
          </a:xfrm>
          <a:prstGeom prst="rect">
            <a:avLst/>
          </a:prstGeom>
          <a:noFill/>
          <a:ln/>
        </p:spPr>
        <p:txBody>
          <a:bodyPr wrap="square" lIns="0" tIns="0" rIns="0" bIns="0" rtlCol="0" anchor="t"/>
          <a:lstStyle/>
          <a:p>
            <a:pPr indent="0" marL="0">
              <a:buNone/>
            </a:pPr>
            <a:r>
              <a:rPr lang="en-US" sz="1300" b="1" dirty="0">
                <a:solidFill>
                  <a:srgbClr val="F2C12E"/>
                </a:solidFill>
                <a:latin typeface="Calibri" pitchFamily="34" charset="0"/>
                <a:ea typeface="Calibri" pitchFamily="34" charset="-122"/>
                <a:cs typeface="Calibri" pitchFamily="34" charset="-120"/>
              </a:rPr>
              <a:t>Karoon Energy</a:t>
            </a:r>
            <a:endParaRPr lang="en-US" sz="1300" dirty="0"/>
          </a:p>
          <a:p>
            <a:pPr indent="0" marL="0">
              <a:buNone/>
            </a:pPr>
            <a:r>
              <a:rPr lang="en-US" sz="1050" dirty="0">
                <a:solidFill>
                  <a:srgbClr val="9FB3C8"/>
                </a:solidFill>
                <a:latin typeface="Calibri" pitchFamily="34" charset="0"/>
                <a:ea typeface="Calibri" pitchFamily="34" charset="-122"/>
                <a:cs typeface="Calibri" pitchFamily="34" charset="-120"/>
              </a:rPr>
              <a:t>Client for C-Innovation's Cabo Frio</a:t>
            </a:r>
            <a:endParaRPr lang="en-US" sz="1300" dirty="0"/>
          </a:p>
        </p:txBody>
      </p:sp>
      <p:sp>
        <p:nvSpPr>
          <p:cNvPr id="13" name="Shape 10"/>
          <p:cNvSpPr/>
          <p:nvPr/>
        </p:nvSpPr>
        <p:spPr>
          <a:xfrm>
            <a:off x="3264408" y="1325880"/>
            <a:ext cx="2615184" cy="3200400"/>
          </a:xfrm>
          <a:prstGeom prst="roundRect">
            <a:avLst>
              <a:gd name="adj" fmla="val 2797"/>
            </a:avLst>
          </a:prstGeom>
          <a:solidFill>
            <a:srgbClr val="0F2F4F"/>
          </a:solidFill>
          <a:ln w="9525">
            <a:solidFill>
              <a:srgbClr val="24507A"/>
            </a:solidFill>
            <a:prstDash val="solid"/>
          </a:ln>
        </p:spPr>
      </p:sp>
      <p:sp>
        <p:nvSpPr>
          <p:cNvPr id="14" name="Shape 11"/>
          <p:cNvSpPr/>
          <p:nvPr/>
        </p:nvSpPr>
        <p:spPr>
          <a:xfrm>
            <a:off x="3493008" y="1554480"/>
            <a:ext cx="457200" cy="457200"/>
          </a:xfrm>
          <a:prstGeom prst="ellipse">
            <a:avLst/>
          </a:prstGeom>
          <a:solidFill>
            <a:srgbClr val="0E8A5F"/>
          </a:solidFill>
          <a:ln/>
        </p:spPr>
      </p:sp>
      <p:pic>
        <p:nvPicPr>
          <p:cNvPr id="15" name="Image 1" descr="preencoded.png">    </p:cNvPr>
          <p:cNvPicPr>
            <a:picLocks noChangeAspect="1"/>
          </p:cNvPicPr>
          <p:nvPr/>
        </p:nvPicPr>
        <p:blipFill>
          <a:blip r:embed="rId3"/>
          <a:stretch>
            <a:fillRect/>
          </a:stretch>
        </p:blipFill>
        <p:spPr>
          <a:xfrm>
            <a:off x="3611880" y="1673352"/>
            <a:ext cx="219456" cy="219456"/>
          </a:xfrm>
          <a:prstGeom prst="rect">
            <a:avLst/>
          </a:prstGeom>
        </p:spPr>
      </p:pic>
      <p:sp>
        <p:nvSpPr>
          <p:cNvPr id="16" name="Text 12"/>
          <p:cNvSpPr txBox="1"/>
          <p:nvPr/>
        </p:nvSpPr>
        <p:spPr>
          <a:xfrm>
            <a:off x="4087368" y="1554480"/>
            <a:ext cx="1655064" cy="45720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Research &amp; funding</a:t>
            </a:r>
            <a:endParaRPr lang="en-US" sz="1400" dirty="0"/>
          </a:p>
        </p:txBody>
      </p:sp>
      <p:sp>
        <p:nvSpPr>
          <p:cNvPr id="17" name="Text 13"/>
          <p:cNvSpPr txBox="1"/>
          <p:nvPr/>
        </p:nvSpPr>
        <p:spPr>
          <a:xfrm>
            <a:off x="3493008" y="2240280"/>
            <a:ext cx="2157984" cy="640080"/>
          </a:xfrm>
          <a:prstGeom prst="rect">
            <a:avLst/>
          </a:prstGeom>
          <a:noFill/>
          <a:ln/>
        </p:spPr>
        <p:txBody>
          <a:bodyPr wrap="square" lIns="0" tIns="0" rIns="0" bIns="0" rtlCol="0" anchor="t"/>
          <a:lstStyle/>
          <a:p>
            <a:pPr indent="0" marL="0">
              <a:buNone/>
            </a:pPr>
            <a:r>
              <a:rPr lang="en-US" sz="1300" b="1" dirty="0">
                <a:solidFill>
                  <a:srgbClr val="F2C12E"/>
                </a:solidFill>
                <a:latin typeface="Calibri" pitchFamily="34" charset="0"/>
                <a:ea typeface="Calibri" pitchFamily="34" charset="-122"/>
                <a:cs typeface="Calibri" pitchFamily="34" charset="-120"/>
              </a:rPr>
              <a:t>SENAI CIMATEC</a:t>
            </a:r>
            <a:endParaRPr lang="en-US" sz="1300" dirty="0"/>
          </a:p>
          <a:p>
            <a:pPr indent="0" marL="0">
              <a:buNone/>
            </a:pPr>
            <a:r>
              <a:rPr lang="en-US" sz="1050" dirty="0">
                <a:solidFill>
                  <a:srgbClr val="9FB3C8"/>
                </a:solidFill>
                <a:latin typeface="Calibri" pitchFamily="34" charset="0"/>
                <a:ea typeface="Calibri" pitchFamily="34" charset="-122"/>
                <a:cs typeface="Calibri" pitchFamily="34" charset="-120"/>
              </a:rPr>
              <a:t>Co-manufactures nodes at Camaçari</a:t>
            </a:r>
            <a:endParaRPr lang="en-US" sz="1300" dirty="0"/>
          </a:p>
        </p:txBody>
      </p:sp>
      <p:sp>
        <p:nvSpPr>
          <p:cNvPr id="18" name="Text 14"/>
          <p:cNvSpPr txBox="1"/>
          <p:nvPr/>
        </p:nvSpPr>
        <p:spPr>
          <a:xfrm>
            <a:off x="3493008" y="2971800"/>
            <a:ext cx="2157984" cy="640080"/>
          </a:xfrm>
          <a:prstGeom prst="rect">
            <a:avLst/>
          </a:prstGeom>
          <a:noFill/>
          <a:ln/>
        </p:spPr>
        <p:txBody>
          <a:bodyPr wrap="square" lIns="0" tIns="0" rIns="0" bIns="0" rtlCol="0" anchor="t"/>
          <a:lstStyle/>
          <a:p>
            <a:pPr indent="0" marL="0">
              <a:buNone/>
            </a:pPr>
            <a:r>
              <a:rPr lang="en-US" sz="1300" b="1" dirty="0">
                <a:solidFill>
                  <a:srgbClr val="F2C12E"/>
                </a:solidFill>
                <a:latin typeface="Calibri" pitchFamily="34" charset="0"/>
                <a:ea typeface="Calibri" pitchFamily="34" charset="-122"/>
                <a:cs typeface="Calibri" pitchFamily="34" charset="-120"/>
              </a:rPr>
              <a:t>ANP</a:t>
            </a:r>
            <a:endParaRPr lang="en-US" sz="1300" dirty="0"/>
          </a:p>
          <a:p>
            <a:pPr indent="0" marL="0">
              <a:buNone/>
            </a:pPr>
            <a:r>
              <a:rPr lang="en-US" sz="1050" dirty="0">
                <a:solidFill>
                  <a:srgbClr val="9FB3C8"/>
                </a:solidFill>
                <a:latin typeface="Calibri" pitchFamily="34" charset="0"/>
                <a:ea typeface="Calibri" pitchFamily="34" charset="-122"/>
                <a:cs typeface="Calibri" pitchFamily="34" charset="-120"/>
              </a:rPr>
              <a:t>Regulator; funds OD OBN via R&amp;D clause</a:t>
            </a:r>
            <a:endParaRPr lang="en-US" sz="1300" dirty="0"/>
          </a:p>
        </p:txBody>
      </p:sp>
      <p:sp>
        <p:nvSpPr>
          <p:cNvPr id="19" name="Text 15"/>
          <p:cNvSpPr txBox="1"/>
          <p:nvPr/>
        </p:nvSpPr>
        <p:spPr>
          <a:xfrm>
            <a:off x="3493008" y="3703320"/>
            <a:ext cx="2157984" cy="640080"/>
          </a:xfrm>
          <a:prstGeom prst="rect">
            <a:avLst/>
          </a:prstGeom>
          <a:noFill/>
          <a:ln/>
        </p:spPr>
        <p:txBody>
          <a:bodyPr wrap="square" lIns="0" tIns="0" rIns="0" bIns="0" rtlCol="0" anchor="t"/>
          <a:lstStyle/>
          <a:p>
            <a:pPr indent="0" marL="0">
              <a:buNone/>
            </a:pPr>
            <a:r>
              <a:rPr lang="en-US" sz="1300" b="1" dirty="0">
                <a:solidFill>
                  <a:srgbClr val="F2C12E"/>
                </a:solidFill>
                <a:latin typeface="Calibri" pitchFamily="34" charset="0"/>
                <a:ea typeface="Calibri" pitchFamily="34" charset="-122"/>
                <a:cs typeface="Calibri" pitchFamily="34" charset="-120"/>
              </a:rPr>
              <a:t>Saipem</a:t>
            </a:r>
            <a:endParaRPr lang="en-US" sz="1300" dirty="0"/>
          </a:p>
          <a:p>
            <a:pPr indent="0" marL="0">
              <a:buNone/>
            </a:pPr>
            <a:r>
              <a:rPr lang="en-US" sz="1050" dirty="0">
                <a:solidFill>
                  <a:srgbClr val="9FB3C8"/>
                </a:solidFill>
                <a:latin typeface="Calibri" pitchFamily="34" charset="0"/>
                <a:ea typeface="Calibri" pitchFamily="34" charset="-122"/>
                <a:cs typeface="Calibri" pitchFamily="34" charset="-120"/>
              </a:rPr>
              <a:t>FlatFish AUV harvests node data</a:t>
            </a:r>
            <a:endParaRPr lang="en-US" sz="1300" dirty="0"/>
          </a:p>
        </p:txBody>
      </p:sp>
      <p:sp>
        <p:nvSpPr>
          <p:cNvPr id="20" name="Shape 16"/>
          <p:cNvSpPr/>
          <p:nvPr/>
        </p:nvSpPr>
        <p:spPr>
          <a:xfrm>
            <a:off x="6071616" y="1325880"/>
            <a:ext cx="2615184" cy="3200400"/>
          </a:xfrm>
          <a:prstGeom prst="roundRect">
            <a:avLst>
              <a:gd name="adj" fmla="val 2797"/>
            </a:avLst>
          </a:prstGeom>
          <a:solidFill>
            <a:srgbClr val="0F2F4F"/>
          </a:solidFill>
          <a:ln w="9525">
            <a:solidFill>
              <a:srgbClr val="24507A"/>
            </a:solidFill>
            <a:prstDash val="solid"/>
          </a:ln>
        </p:spPr>
      </p:sp>
      <p:sp>
        <p:nvSpPr>
          <p:cNvPr id="21" name="Shape 17"/>
          <p:cNvSpPr/>
          <p:nvPr/>
        </p:nvSpPr>
        <p:spPr>
          <a:xfrm>
            <a:off x="6300216" y="1554480"/>
            <a:ext cx="457200" cy="457200"/>
          </a:xfrm>
          <a:prstGeom prst="ellipse">
            <a:avLst/>
          </a:prstGeom>
          <a:solidFill>
            <a:srgbClr val="0E8A5F"/>
          </a:solidFill>
          <a:ln/>
        </p:spPr>
      </p:sp>
      <p:pic>
        <p:nvPicPr>
          <p:cNvPr id="22" name="Image 2" descr="preencoded.png">    </p:cNvPr>
          <p:cNvPicPr>
            <a:picLocks noChangeAspect="1"/>
          </p:cNvPicPr>
          <p:nvPr/>
        </p:nvPicPr>
        <p:blipFill>
          <a:blip r:embed="rId4"/>
          <a:stretch>
            <a:fillRect/>
          </a:stretch>
        </p:blipFill>
        <p:spPr>
          <a:xfrm>
            <a:off x="6419088" y="1673352"/>
            <a:ext cx="219456" cy="219456"/>
          </a:xfrm>
          <a:prstGeom prst="rect">
            <a:avLst/>
          </a:prstGeom>
        </p:spPr>
      </p:pic>
      <p:sp>
        <p:nvSpPr>
          <p:cNvPr id="23" name="Text 18"/>
          <p:cNvSpPr txBox="1"/>
          <p:nvPr/>
        </p:nvSpPr>
        <p:spPr>
          <a:xfrm>
            <a:off x="6894576" y="1554480"/>
            <a:ext cx="1655064" cy="45720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Vessel operators</a:t>
            </a:r>
            <a:endParaRPr lang="en-US" sz="1400" dirty="0"/>
          </a:p>
        </p:txBody>
      </p:sp>
      <p:sp>
        <p:nvSpPr>
          <p:cNvPr id="24" name="Text 19"/>
          <p:cNvSpPr txBox="1"/>
          <p:nvPr/>
        </p:nvSpPr>
        <p:spPr>
          <a:xfrm>
            <a:off x="6300216" y="2240280"/>
            <a:ext cx="2157984" cy="640080"/>
          </a:xfrm>
          <a:prstGeom prst="rect">
            <a:avLst/>
          </a:prstGeom>
          <a:noFill/>
          <a:ln/>
        </p:spPr>
        <p:txBody>
          <a:bodyPr wrap="square" lIns="0" tIns="0" rIns="0" bIns="0" rtlCol="0" anchor="t"/>
          <a:lstStyle/>
          <a:p>
            <a:pPr indent="0" marL="0">
              <a:buNone/>
            </a:pPr>
            <a:r>
              <a:rPr lang="en-US" sz="1300" b="1" dirty="0">
                <a:solidFill>
                  <a:srgbClr val="F2C12E"/>
                </a:solidFill>
                <a:latin typeface="Calibri" pitchFamily="34" charset="0"/>
                <a:ea typeface="Calibri" pitchFamily="34" charset="-122"/>
                <a:cs typeface="Calibri" pitchFamily="34" charset="-120"/>
              </a:rPr>
              <a:t>C-Innovation</a:t>
            </a:r>
            <a:endParaRPr lang="en-US" sz="1300" dirty="0"/>
          </a:p>
          <a:p>
            <a:pPr indent="0" marL="0">
              <a:buNone/>
            </a:pPr>
            <a:r>
              <a:rPr lang="en-US" sz="1050" dirty="0">
                <a:solidFill>
                  <a:srgbClr val="9FB3C8"/>
                </a:solidFill>
                <a:latin typeface="Calibri" pitchFamily="34" charset="0"/>
                <a:ea typeface="Calibri" pitchFamily="34" charset="-122"/>
                <a:cs typeface="Calibri" pitchFamily="34" charset="-120"/>
              </a:rPr>
              <a:t>ROV/IMR fleet: Ranger 2, SPRINT-Nav, Fusion 2</a:t>
            </a:r>
            <a:endParaRPr lang="en-US" sz="1300" dirty="0"/>
          </a:p>
        </p:txBody>
      </p:sp>
      <p:sp>
        <p:nvSpPr>
          <p:cNvPr id="25" name="Text 20"/>
          <p:cNvSpPr txBox="1"/>
          <p:nvPr/>
        </p:nvSpPr>
        <p:spPr>
          <a:xfrm>
            <a:off x="6300216" y="2971800"/>
            <a:ext cx="2157984" cy="640080"/>
          </a:xfrm>
          <a:prstGeom prst="rect">
            <a:avLst/>
          </a:prstGeom>
          <a:noFill/>
          <a:ln/>
        </p:spPr>
        <p:txBody>
          <a:bodyPr wrap="square" lIns="0" tIns="0" rIns="0" bIns="0" rtlCol="0" anchor="t"/>
          <a:lstStyle/>
          <a:p>
            <a:pPr indent="0" marL="0">
              <a:buNone/>
            </a:pPr>
            <a:r>
              <a:rPr lang="en-US" sz="1300" b="1" dirty="0">
                <a:solidFill>
                  <a:srgbClr val="F2C12E"/>
                </a:solidFill>
                <a:latin typeface="Calibri" pitchFamily="34" charset="0"/>
                <a:ea typeface="Calibri" pitchFamily="34" charset="-122"/>
                <a:cs typeface="Calibri" pitchFamily="34" charset="-120"/>
              </a:rPr>
              <a:t>Fugro</a:t>
            </a:r>
            <a:endParaRPr lang="en-US" sz="1300" dirty="0"/>
          </a:p>
          <a:p>
            <a:pPr indent="0" marL="0">
              <a:buNone/>
            </a:pPr>
            <a:r>
              <a:rPr lang="en-US" sz="1050" dirty="0">
                <a:solidFill>
                  <a:srgbClr val="9FB3C8"/>
                </a:solidFill>
                <a:latin typeface="Calibri" pitchFamily="34" charset="0"/>
                <a:ea typeface="Calibri" pitchFamily="34" charset="-122"/>
                <a:cs typeface="Calibri" pitchFamily="34" charset="-120"/>
              </a:rPr>
              <a:t>Fugro Aquarius: Ranger 2 + GyroUSBL 7000</a:t>
            </a:r>
            <a:endParaRPr lang="en-US" sz="1300" dirty="0"/>
          </a:p>
        </p:txBody>
      </p:sp>
      <p:sp>
        <p:nvSpPr>
          <p:cNvPr id="26" name="Text 21"/>
          <p:cNvSpPr txBox="1"/>
          <p:nvPr/>
        </p:nvSpPr>
        <p:spPr>
          <a:xfrm>
            <a:off x="6300216" y="3703320"/>
            <a:ext cx="2157984" cy="640080"/>
          </a:xfrm>
          <a:prstGeom prst="rect">
            <a:avLst/>
          </a:prstGeom>
          <a:noFill/>
          <a:ln/>
        </p:spPr>
        <p:txBody>
          <a:bodyPr wrap="square" lIns="0" tIns="0" rIns="0" bIns="0" rtlCol="0" anchor="t"/>
          <a:lstStyle/>
          <a:p>
            <a:pPr indent="0" marL="0">
              <a:buNone/>
            </a:pPr>
            <a:r>
              <a:rPr lang="en-US" sz="1300" b="1" dirty="0">
                <a:solidFill>
                  <a:srgbClr val="F2C12E"/>
                </a:solidFill>
                <a:latin typeface="Calibri" pitchFamily="34" charset="0"/>
                <a:ea typeface="Calibri" pitchFamily="34" charset="-122"/>
                <a:cs typeface="Calibri" pitchFamily="34" charset="-120"/>
              </a:rPr>
              <a:t>OceanPact</a:t>
            </a:r>
            <a:endParaRPr lang="en-US" sz="1300" dirty="0"/>
          </a:p>
          <a:p>
            <a:pPr indent="0" marL="0">
              <a:buNone/>
            </a:pPr>
            <a:r>
              <a:rPr lang="en-US" sz="1050" dirty="0">
                <a:solidFill>
                  <a:srgbClr val="9FB3C8"/>
                </a:solidFill>
                <a:latin typeface="Calibri" pitchFamily="34" charset="0"/>
                <a:ea typeface="Calibri" pitchFamily="34" charset="-122"/>
                <a:cs typeface="Calibri" pitchFamily="34" charset="-120"/>
              </a:rPr>
              <a:t>Ranger 2 on geoscience vessels for Petrobras</a:t>
            </a:r>
            <a:endParaRPr lang="en-US" sz="1300" dirty="0"/>
          </a:p>
        </p:txBody>
      </p:sp>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92608"/>
            <a:ext cx="6400800" cy="228600"/>
          </a:xfrm>
          <a:prstGeom prst="rect">
            <a:avLst/>
          </a:prstGeom>
          <a:noFill/>
          <a:ln/>
        </p:spPr>
        <p:txBody>
          <a:bodyPr wrap="square" lIns="0" tIns="0" rIns="0" bIns="0" rtlCol="0" anchor="ctr"/>
          <a:lstStyle/>
          <a:p>
            <a:pPr indent="0" marL="0">
              <a:buNone/>
            </a:pPr>
            <a:r>
              <a:rPr lang="en-US" sz="1000" b="1" spc="300" kern="0" dirty="0">
                <a:solidFill>
                  <a:srgbClr val="17B584"/>
                </a:solidFill>
                <a:latin typeface="Calibri" pitchFamily="34" charset="0"/>
                <a:ea typeface="Calibri" pitchFamily="34" charset="-122"/>
                <a:cs typeface="Calibri" pitchFamily="34" charset="-120"/>
              </a:rPr>
              <a:t>FLAGSHIP PROJECT</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OD OBN: 4D monitoring without node recovery</a:t>
            </a:r>
            <a:endParaRPr lang="en-US" sz="2400" dirty="0"/>
          </a:p>
        </p:txBody>
      </p:sp>
      <p:sp>
        <p:nvSpPr>
          <p:cNvPr id="4" name="Text 2"/>
          <p:cNvSpPr txBox="1"/>
          <p:nvPr/>
        </p:nvSpPr>
        <p:spPr>
          <a:xfrm>
            <a:off x="457200" y="4754880"/>
            <a:ext cx="2743200" cy="201168"/>
          </a:xfrm>
          <a:prstGeom prst="rect">
            <a:avLst/>
          </a:prstGeom>
          <a:noFill/>
          <a:ln/>
        </p:spPr>
        <p:txBody>
          <a:bodyPr wrap="square" lIns="0" tIns="0" rIns="0" bIns="0" rtlCol="0" anchor="ctr"/>
          <a:lstStyle/>
          <a:p>
            <a:pPr indent="0" marL="0">
              <a:buNone/>
            </a:pPr>
            <a:r>
              <a:rPr lang="en-US" sz="900" dirty="0">
                <a:solidFill>
                  <a:srgbClr val="6F87A0"/>
                </a:solidFill>
                <a:latin typeface="Calibri" pitchFamily="34" charset="0"/>
                <a:ea typeface="Calibri" pitchFamily="34" charset="-122"/>
                <a:cs typeface="Calibri" pitchFamily="34" charset="-120"/>
              </a:rPr>
              <a:t>Sonardyne in Brazil</a:t>
            </a:r>
            <a:endParaRPr lang="en-US" sz="900" dirty="0"/>
          </a:p>
        </p:txBody>
      </p:sp>
      <p:sp>
        <p:nvSpPr>
          <p:cNvPr id="5" name="Text 3"/>
          <p:cNvSpPr txBox="1"/>
          <p:nvPr/>
        </p:nvSpPr>
        <p:spPr>
          <a:xfrm>
            <a:off x="7772400" y="4754880"/>
            <a:ext cx="914400" cy="201168"/>
          </a:xfrm>
          <a:prstGeom prst="rect">
            <a:avLst/>
          </a:prstGeom>
          <a:noFill/>
          <a:ln/>
        </p:spPr>
        <p:txBody>
          <a:bodyPr wrap="square" lIns="0" tIns="0" rIns="0" bIns="0" rtlCol="0" anchor="ctr"/>
          <a:lstStyle/>
          <a:p>
            <a:pPr algn="r" indent="0" marL="0">
              <a:buNone/>
            </a:pPr>
            <a:r>
              <a:rPr lang="en-US" sz="900" dirty="0">
                <a:solidFill>
                  <a:srgbClr val="6F87A0"/>
                </a:solidFill>
                <a:latin typeface="Calibri" pitchFamily="34" charset="0"/>
                <a:ea typeface="Calibri" pitchFamily="34" charset="-122"/>
                <a:cs typeface="Calibri" pitchFamily="34" charset="-120"/>
              </a:rPr>
              <a:t>05 / 12</a:t>
            </a:r>
            <a:endParaRPr lang="en-US" sz="900" dirty="0"/>
          </a:p>
        </p:txBody>
      </p:sp>
      <p:sp>
        <p:nvSpPr>
          <p:cNvPr id="6" name="Text 4"/>
          <p:cNvSpPr txBox="1"/>
          <p:nvPr/>
        </p:nvSpPr>
        <p:spPr>
          <a:xfrm>
            <a:off x="457200" y="1051560"/>
            <a:ext cx="8229600" cy="274320"/>
          </a:xfrm>
          <a:prstGeom prst="rect">
            <a:avLst/>
          </a:prstGeom>
          <a:noFill/>
          <a:ln/>
        </p:spPr>
        <p:txBody>
          <a:bodyPr wrap="square" lIns="0" tIns="0" rIns="0" bIns="0" rtlCol="0" anchor="ctr"/>
          <a:lstStyle/>
          <a:p>
            <a:pPr indent="0" marL="0">
              <a:buNone/>
            </a:pPr>
            <a:r>
              <a:rPr lang="en-US" sz="1300" i="1" dirty="0">
                <a:solidFill>
                  <a:srgbClr val="9FB3C8"/>
                </a:solidFill>
                <a:latin typeface="Calibri" pitchFamily="34" charset="0"/>
                <a:ea typeface="Calibri" pitchFamily="34" charset="-122"/>
                <a:cs typeface="Calibri" pitchFamily="34" charset="-120"/>
              </a:rPr>
              <a:t>Semi-permanent seabed seismic nodes for low-cost 4D reservoir monitoring of the pre-salt</a:t>
            </a:r>
            <a:endParaRPr lang="en-US" sz="1300" dirty="0"/>
          </a:p>
        </p:txBody>
      </p:sp>
      <p:sp>
        <p:nvSpPr>
          <p:cNvPr id="7" name="Shape 5"/>
          <p:cNvSpPr/>
          <p:nvPr/>
        </p:nvSpPr>
        <p:spPr>
          <a:xfrm>
            <a:off x="457200" y="1508760"/>
            <a:ext cx="1920240" cy="1600200"/>
          </a:xfrm>
          <a:prstGeom prst="roundRect">
            <a:avLst>
              <a:gd name="adj" fmla="val 4571"/>
            </a:avLst>
          </a:prstGeom>
          <a:solidFill>
            <a:srgbClr val="0F2F4F"/>
          </a:solidFill>
          <a:ln w="9525">
            <a:solidFill>
              <a:srgbClr val="24507A"/>
            </a:solidFill>
            <a:prstDash val="solid"/>
          </a:ln>
        </p:spPr>
      </p:sp>
      <p:sp>
        <p:nvSpPr>
          <p:cNvPr id="8" name="Text 6"/>
          <p:cNvSpPr txBox="1"/>
          <p:nvPr/>
        </p:nvSpPr>
        <p:spPr>
          <a:xfrm>
            <a:off x="640080" y="1645920"/>
            <a:ext cx="1554480" cy="685800"/>
          </a:xfrm>
          <a:prstGeom prst="rect">
            <a:avLst/>
          </a:prstGeom>
          <a:noFill/>
          <a:ln/>
        </p:spPr>
        <p:txBody>
          <a:bodyPr wrap="square" lIns="0" tIns="0" rIns="0" bIns="0" rtlCol="0" anchor="ctr"/>
          <a:lstStyle/>
          <a:p>
            <a:pPr indent="0" marL="0">
              <a:buNone/>
            </a:pPr>
            <a:r>
              <a:rPr lang="en-US" sz="3400" b="1" dirty="0">
                <a:solidFill>
                  <a:srgbClr val="F2C12E"/>
                </a:solidFill>
                <a:latin typeface="Arial" pitchFamily="34" charset="0"/>
                <a:ea typeface="Arial" pitchFamily="34" charset="-122"/>
                <a:cs typeface="Arial" pitchFamily="34" charset="-120"/>
              </a:rPr>
              <a:t>2,000+</a:t>
            </a:r>
            <a:endParaRPr lang="en-US" sz="3400" dirty="0"/>
          </a:p>
        </p:txBody>
      </p:sp>
      <p:sp>
        <p:nvSpPr>
          <p:cNvPr id="9" name="Text 7"/>
          <p:cNvSpPr txBox="1"/>
          <p:nvPr/>
        </p:nvSpPr>
        <p:spPr>
          <a:xfrm>
            <a:off x="640080" y="2377440"/>
            <a:ext cx="1554480" cy="640080"/>
          </a:xfrm>
          <a:prstGeom prst="rect">
            <a:avLst/>
          </a:prstGeom>
          <a:noFill/>
          <a:ln/>
        </p:spPr>
        <p:txBody>
          <a:bodyPr wrap="square" lIns="0" tIns="0" rIns="0" bIns="0" rtlCol="0" anchor="t"/>
          <a:lstStyle/>
          <a:p>
            <a:pPr indent="0" marL="0">
              <a:buNone/>
            </a:pPr>
            <a:r>
              <a:rPr lang="en-US" sz="1100" dirty="0">
                <a:solidFill>
                  <a:srgbClr val="E8EFF6"/>
                </a:solidFill>
                <a:latin typeface="Calibri" pitchFamily="34" charset="0"/>
                <a:ea typeface="Calibri" pitchFamily="34" charset="-122"/>
                <a:cs typeface="Calibri" pitchFamily="34" charset="-120"/>
              </a:rPr>
              <a:t>days of deepwater trials at Sapinhoá, Itapu and Búzios</a:t>
            </a:r>
            <a:endParaRPr lang="en-US" sz="1100" dirty="0"/>
          </a:p>
        </p:txBody>
      </p:sp>
      <p:sp>
        <p:nvSpPr>
          <p:cNvPr id="10" name="Shape 8"/>
          <p:cNvSpPr/>
          <p:nvPr/>
        </p:nvSpPr>
        <p:spPr>
          <a:xfrm>
            <a:off x="2551176" y="1508760"/>
            <a:ext cx="1920240" cy="1600200"/>
          </a:xfrm>
          <a:prstGeom prst="roundRect">
            <a:avLst>
              <a:gd name="adj" fmla="val 4571"/>
            </a:avLst>
          </a:prstGeom>
          <a:solidFill>
            <a:srgbClr val="0F2F4F"/>
          </a:solidFill>
          <a:ln w="9525">
            <a:solidFill>
              <a:srgbClr val="24507A"/>
            </a:solidFill>
            <a:prstDash val="solid"/>
          </a:ln>
        </p:spPr>
      </p:sp>
      <p:sp>
        <p:nvSpPr>
          <p:cNvPr id="11" name="Text 9"/>
          <p:cNvSpPr txBox="1"/>
          <p:nvPr/>
        </p:nvSpPr>
        <p:spPr>
          <a:xfrm>
            <a:off x="2734056" y="1645920"/>
            <a:ext cx="1554480" cy="685800"/>
          </a:xfrm>
          <a:prstGeom prst="rect">
            <a:avLst/>
          </a:prstGeom>
          <a:noFill/>
          <a:ln/>
        </p:spPr>
        <p:txBody>
          <a:bodyPr wrap="square" lIns="0" tIns="0" rIns="0" bIns="0" rtlCol="0" anchor="ctr"/>
          <a:lstStyle/>
          <a:p>
            <a:pPr indent="0" marL="0">
              <a:buNone/>
            </a:pPr>
            <a:r>
              <a:rPr lang="en-US" sz="3400" b="1" dirty="0">
                <a:solidFill>
                  <a:srgbClr val="F2C12E"/>
                </a:solidFill>
                <a:latin typeface="Arial" pitchFamily="34" charset="0"/>
                <a:ea typeface="Arial" pitchFamily="34" charset="-122"/>
                <a:cs typeface="Arial" pitchFamily="34" charset="-120"/>
              </a:rPr>
              <a:t>660</a:t>
            </a:r>
            <a:endParaRPr lang="en-US" sz="3400" dirty="0"/>
          </a:p>
        </p:txBody>
      </p:sp>
      <p:sp>
        <p:nvSpPr>
          <p:cNvPr id="12" name="Text 10"/>
          <p:cNvSpPr txBox="1"/>
          <p:nvPr/>
        </p:nvSpPr>
        <p:spPr>
          <a:xfrm>
            <a:off x="2734056" y="2377440"/>
            <a:ext cx="1554480" cy="640080"/>
          </a:xfrm>
          <a:prstGeom prst="rect">
            <a:avLst/>
          </a:prstGeom>
          <a:noFill/>
          <a:ln/>
        </p:spPr>
        <p:txBody>
          <a:bodyPr wrap="square" lIns="0" tIns="0" rIns="0" bIns="0" rtlCol="0" anchor="t"/>
          <a:lstStyle/>
          <a:p>
            <a:pPr indent="0" marL="0">
              <a:buNone/>
            </a:pPr>
            <a:r>
              <a:rPr lang="en-US" sz="1100" dirty="0">
                <a:solidFill>
                  <a:srgbClr val="E8EFF6"/>
                </a:solidFill>
                <a:latin typeface="Calibri" pitchFamily="34" charset="0"/>
                <a:ea typeface="Calibri" pitchFamily="34" charset="-122"/>
                <a:cs typeface="Calibri" pitchFamily="34" charset="-120"/>
              </a:rPr>
              <a:t>pre-production nodes in the pilot array</a:t>
            </a:r>
            <a:endParaRPr lang="en-US" sz="1100" dirty="0"/>
          </a:p>
        </p:txBody>
      </p:sp>
      <p:sp>
        <p:nvSpPr>
          <p:cNvPr id="13" name="Shape 11"/>
          <p:cNvSpPr/>
          <p:nvPr/>
        </p:nvSpPr>
        <p:spPr>
          <a:xfrm>
            <a:off x="4645152" y="1508760"/>
            <a:ext cx="1920240" cy="1600200"/>
          </a:xfrm>
          <a:prstGeom prst="roundRect">
            <a:avLst>
              <a:gd name="adj" fmla="val 4571"/>
            </a:avLst>
          </a:prstGeom>
          <a:solidFill>
            <a:srgbClr val="0F2F4F"/>
          </a:solidFill>
          <a:ln w="9525">
            <a:solidFill>
              <a:srgbClr val="24507A"/>
            </a:solidFill>
            <a:prstDash val="solid"/>
          </a:ln>
        </p:spPr>
      </p:sp>
      <p:sp>
        <p:nvSpPr>
          <p:cNvPr id="14" name="Text 12"/>
          <p:cNvSpPr txBox="1"/>
          <p:nvPr/>
        </p:nvSpPr>
        <p:spPr>
          <a:xfrm>
            <a:off x="4828032" y="1645920"/>
            <a:ext cx="1554480" cy="685800"/>
          </a:xfrm>
          <a:prstGeom prst="rect">
            <a:avLst/>
          </a:prstGeom>
          <a:noFill/>
          <a:ln/>
        </p:spPr>
        <p:txBody>
          <a:bodyPr wrap="square" lIns="0" tIns="0" rIns="0" bIns="0" rtlCol="0" anchor="ctr"/>
          <a:lstStyle/>
          <a:p>
            <a:pPr indent="0" marL="0">
              <a:buNone/>
            </a:pPr>
            <a:r>
              <a:rPr lang="en-US" sz="3400" b="1" dirty="0">
                <a:solidFill>
                  <a:srgbClr val="F2C12E"/>
                </a:solidFill>
                <a:latin typeface="Arial" pitchFamily="34" charset="0"/>
                <a:ea typeface="Arial" pitchFamily="34" charset="-122"/>
                <a:cs typeface="Arial" pitchFamily="34" charset="-120"/>
              </a:rPr>
              <a:t>84</a:t>
            </a:r>
            <a:endParaRPr lang="en-US" sz="3400" dirty="0"/>
          </a:p>
        </p:txBody>
      </p:sp>
      <p:sp>
        <p:nvSpPr>
          <p:cNvPr id="15" name="Text 13"/>
          <p:cNvSpPr txBox="1"/>
          <p:nvPr/>
        </p:nvSpPr>
        <p:spPr>
          <a:xfrm>
            <a:off x="4828032" y="2377440"/>
            <a:ext cx="1554480" cy="640080"/>
          </a:xfrm>
          <a:prstGeom prst="rect">
            <a:avLst/>
          </a:prstGeom>
          <a:noFill/>
          <a:ln/>
        </p:spPr>
        <p:txBody>
          <a:bodyPr wrap="square" lIns="0" tIns="0" rIns="0" bIns="0" rtlCol="0" anchor="t"/>
          <a:lstStyle/>
          <a:p>
            <a:pPr indent="0" marL="0">
              <a:buNone/>
            </a:pPr>
            <a:r>
              <a:rPr lang="en-US" sz="1100" dirty="0">
                <a:solidFill>
                  <a:srgbClr val="E8EFF6"/>
                </a:solidFill>
                <a:latin typeface="Calibri" pitchFamily="34" charset="0"/>
                <a:ea typeface="Calibri" pitchFamily="34" charset="-122"/>
                <a:cs typeface="Calibri" pitchFamily="34" charset="-120"/>
              </a:rPr>
              <a:t>nodes in the first Mero deployment, early 2026</a:t>
            </a:r>
            <a:endParaRPr lang="en-US" sz="1100" dirty="0"/>
          </a:p>
        </p:txBody>
      </p:sp>
      <p:sp>
        <p:nvSpPr>
          <p:cNvPr id="16" name="Shape 14"/>
          <p:cNvSpPr/>
          <p:nvPr/>
        </p:nvSpPr>
        <p:spPr>
          <a:xfrm>
            <a:off x="6739128" y="1508760"/>
            <a:ext cx="1920240" cy="1600200"/>
          </a:xfrm>
          <a:prstGeom prst="roundRect">
            <a:avLst>
              <a:gd name="adj" fmla="val 4571"/>
            </a:avLst>
          </a:prstGeom>
          <a:solidFill>
            <a:srgbClr val="0F2F4F"/>
          </a:solidFill>
          <a:ln w="9525">
            <a:solidFill>
              <a:srgbClr val="24507A"/>
            </a:solidFill>
            <a:prstDash val="solid"/>
          </a:ln>
        </p:spPr>
      </p:sp>
      <p:sp>
        <p:nvSpPr>
          <p:cNvPr id="17" name="Text 15"/>
          <p:cNvSpPr txBox="1"/>
          <p:nvPr/>
        </p:nvSpPr>
        <p:spPr>
          <a:xfrm>
            <a:off x="6922008" y="1645920"/>
            <a:ext cx="1554480" cy="685800"/>
          </a:xfrm>
          <a:prstGeom prst="rect">
            <a:avLst/>
          </a:prstGeom>
          <a:noFill/>
          <a:ln/>
        </p:spPr>
        <p:txBody>
          <a:bodyPr wrap="square" lIns="0" tIns="0" rIns="0" bIns="0" rtlCol="0" anchor="ctr"/>
          <a:lstStyle/>
          <a:p>
            <a:pPr indent="0" marL="0">
              <a:buNone/>
            </a:pPr>
            <a:r>
              <a:rPr lang="en-US" sz="3400" b="1" dirty="0">
                <a:solidFill>
                  <a:srgbClr val="F2C12E"/>
                </a:solidFill>
                <a:latin typeface="Arial" pitchFamily="34" charset="0"/>
                <a:ea typeface="Arial" pitchFamily="34" charset="-122"/>
                <a:cs typeface="Arial" pitchFamily="34" charset="-120"/>
              </a:rPr>
              <a:t>5 yrs</a:t>
            </a:r>
            <a:endParaRPr lang="en-US" sz="3400" dirty="0"/>
          </a:p>
        </p:txBody>
      </p:sp>
      <p:sp>
        <p:nvSpPr>
          <p:cNvPr id="18" name="Text 16"/>
          <p:cNvSpPr txBox="1"/>
          <p:nvPr/>
        </p:nvSpPr>
        <p:spPr>
          <a:xfrm>
            <a:off x="6922008" y="2377440"/>
            <a:ext cx="1554480" cy="640080"/>
          </a:xfrm>
          <a:prstGeom prst="rect">
            <a:avLst/>
          </a:prstGeom>
          <a:noFill/>
          <a:ln/>
        </p:spPr>
        <p:txBody>
          <a:bodyPr wrap="square" lIns="0" tIns="0" rIns="0" bIns="0" rtlCol="0" anchor="t"/>
          <a:lstStyle/>
          <a:p>
            <a:pPr indent="0" marL="0">
              <a:buNone/>
            </a:pPr>
            <a:r>
              <a:rPr lang="en-US" sz="1100" dirty="0">
                <a:solidFill>
                  <a:srgbClr val="E8EFF6"/>
                </a:solidFill>
                <a:latin typeface="Calibri" pitchFamily="34" charset="0"/>
                <a:ea typeface="Calibri" pitchFamily="34" charset="-122"/>
                <a:cs typeface="Calibri" pitchFamily="34" charset="-120"/>
              </a:rPr>
              <a:t>design life on the seabed, rated to 3,000 m</a:t>
            </a:r>
            <a:endParaRPr lang="en-US" sz="1100" dirty="0"/>
          </a:p>
        </p:txBody>
      </p:sp>
      <p:sp>
        <p:nvSpPr>
          <p:cNvPr id="19" name="Shape 17"/>
          <p:cNvSpPr/>
          <p:nvPr/>
        </p:nvSpPr>
        <p:spPr>
          <a:xfrm>
            <a:off x="457200" y="3291840"/>
            <a:ext cx="8229600" cy="1234440"/>
          </a:xfrm>
          <a:prstGeom prst="roundRect">
            <a:avLst>
              <a:gd name="adj" fmla="val 5926"/>
            </a:avLst>
          </a:prstGeom>
          <a:solidFill>
            <a:srgbClr val="143A60"/>
          </a:solidFill>
          <a:ln w="9525">
            <a:solidFill>
              <a:srgbClr val="24507A"/>
            </a:solidFill>
            <a:prstDash val="solid"/>
          </a:ln>
        </p:spPr>
      </p:sp>
      <p:sp>
        <p:nvSpPr>
          <p:cNvPr id="20" name="Text 18"/>
          <p:cNvSpPr txBox="1"/>
          <p:nvPr/>
        </p:nvSpPr>
        <p:spPr>
          <a:xfrm>
            <a:off x="731520" y="3429000"/>
            <a:ext cx="2743200" cy="228600"/>
          </a:xfrm>
          <a:prstGeom prst="rect">
            <a:avLst/>
          </a:prstGeom>
          <a:noFill/>
          <a:ln/>
        </p:spPr>
        <p:txBody>
          <a:bodyPr wrap="square" lIns="0" tIns="0" rIns="0" bIns="0" rtlCol="0" anchor="ctr"/>
          <a:lstStyle/>
          <a:p>
            <a:pPr indent="0" marL="0">
              <a:buNone/>
            </a:pPr>
            <a:r>
              <a:rPr lang="en-US" sz="1000" b="1" spc="300" kern="0" dirty="0">
                <a:solidFill>
                  <a:srgbClr val="17B584"/>
                </a:solidFill>
                <a:latin typeface="Calibri" pitchFamily="34" charset="0"/>
                <a:ea typeface="Calibri" pitchFamily="34" charset="-122"/>
                <a:cs typeface="Calibri" pitchFamily="34" charset="-120"/>
              </a:rPr>
              <a:t>WHY IT MATTERS</a:t>
            </a:r>
            <a:endParaRPr lang="en-US" sz="1000" dirty="0"/>
          </a:p>
        </p:txBody>
      </p:sp>
      <p:sp>
        <p:nvSpPr>
          <p:cNvPr id="21" name="Shape 19"/>
          <p:cNvSpPr/>
          <p:nvPr/>
        </p:nvSpPr>
        <p:spPr>
          <a:xfrm>
            <a:off x="731520" y="3794760"/>
            <a:ext cx="411480" cy="411480"/>
          </a:xfrm>
          <a:prstGeom prst="ellipse">
            <a:avLst/>
          </a:prstGeom>
          <a:solidFill>
            <a:srgbClr val="0E8A5F"/>
          </a:solidFill>
          <a:ln/>
        </p:spPr>
      </p:sp>
      <p:pic>
        <p:nvPicPr>
          <p:cNvPr id="22" name="Image 0" descr="preencoded.png">    </p:cNvPr>
          <p:cNvPicPr>
            <a:picLocks noChangeAspect="1"/>
          </p:cNvPicPr>
          <p:nvPr/>
        </p:nvPicPr>
        <p:blipFill>
          <a:blip r:embed="rId2"/>
          <a:stretch>
            <a:fillRect/>
          </a:stretch>
        </p:blipFill>
        <p:spPr>
          <a:xfrm>
            <a:off x="838505" y="3901745"/>
            <a:ext cx="197510" cy="197510"/>
          </a:xfrm>
          <a:prstGeom prst="rect">
            <a:avLst/>
          </a:prstGeom>
        </p:spPr>
      </p:pic>
      <p:sp>
        <p:nvSpPr>
          <p:cNvPr id="23" name="Text 20"/>
          <p:cNvSpPr txBox="1"/>
          <p:nvPr/>
        </p:nvSpPr>
        <p:spPr>
          <a:xfrm>
            <a:off x="1280160" y="3703320"/>
            <a:ext cx="3291840" cy="5943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No repeat deployment and recovery: data is harvested wirelessly, on demand</a:t>
            </a:r>
            <a:endParaRPr lang="en-US" sz="1200" dirty="0"/>
          </a:p>
        </p:txBody>
      </p:sp>
      <p:sp>
        <p:nvSpPr>
          <p:cNvPr id="24" name="Shape 21"/>
          <p:cNvSpPr/>
          <p:nvPr/>
        </p:nvSpPr>
        <p:spPr>
          <a:xfrm>
            <a:off x="4754880" y="3794760"/>
            <a:ext cx="411480" cy="411480"/>
          </a:xfrm>
          <a:prstGeom prst="ellipse">
            <a:avLst/>
          </a:prstGeom>
          <a:solidFill>
            <a:srgbClr val="0E8A5F"/>
          </a:solidFill>
          <a:ln/>
        </p:spPr>
      </p:sp>
      <p:pic>
        <p:nvPicPr>
          <p:cNvPr id="25" name="Image 1" descr="preencoded.png">    </p:cNvPr>
          <p:cNvPicPr>
            <a:picLocks noChangeAspect="1"/>
          </p:cNvPicPr>
          <p:nvPr/>
        </p:nvPicPr>
        <p:blipFill>
          <a:blip r:embed="rId3"/>
          <a:stretch>
            <a:fillRect/>
          </a:stretch>
        </p:blipFill>
        <p:spPr>
          <a:xfrm>
            <a:off x="4861865" y="3901745"/>
            <a:ext cx="197510" cy="197510"/>
          </a:xfrm>
          <a:prstGeom prst="rect">
            <a:avLst/>
          </a:prstGeom>
        </p:spPr>
      </p:pic>
      <p:sp>
        <p:nvSpPr>
          <p:cNvPr id="26" name="Text 22"/>
          <p:cNvSpPr txBox="1"/>
          <p:nvPr/>
        </p:nvSpPr>
        <p:spPr>
          <a:xfrm>
            <a:off x="5303520" y="3703320"/>
            <a:ext cx="3291840" cy="5943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Lower greenhouse-gas emissions from seismic acquisition and more offshore automation (Petrobras CENPES)</a:t>
            </a:r>
            <a:endParaRPr lang="en-US" sz="1200" dirty="0"/>
          </a:p>
        </p:txBody>
      </p:sp>
    </p:spTree>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92608"/>
            <a:ext cx="6400800" cy="228600"/>
          </a:xfrm>
          <a:prstGeom prst="rect">
            <a:avLst/>
          </a:prstGeom>
          <a:noFill/>
          <a:ln/>
        </p:spPr>
        <p:txBody>
          <a:bodyPr wrap="square" lIns="0" tIns="0" rIns="0" bIns="0" rtlCol="0" anchor="ctr"/>
          <a:lstStyle/>
          <a:p>
            <a:pPr indent="0" marL="0">
              <a:buNone/>
            </a:pPr>
            <a:r>
              <a:rPr lang="en-US" sz="1000" b="1" spc="300" kern="0" dirty="0">
                <a:solidFill>
                  <a:srgbClr val="17B584"/>
                </a:solidFill>
                <a:latin typeface="Calibri" pitchFamily="34" charset="0"/>
                <a:ea typeface="Calibri" pitchFamily="34" charset="-122"/>
                <a:cs typeface="Calibri" pitchFamily="34" charset="-120"/>
              </a:rPr>
              <a:t>HOW IT WORKS</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Acoustics to control, optics to collect</a:t>
            </a:r>
            <a:endParaRPr lang="en-US" sz="2400" dirty="0"/>
          </a:p>
        </p:txBody>
      </p:sp>
      <p:sp>
        <p:nvSpPr>
          <p:cNvPr id="4" name="Text 2"/>
          <p:cNvSpPr txBox="1"/>
          <p:nvPr/>
        </p:nvSpPr>
        <p:spPr>
          <a:xfrm>
            <a:off x="457200" y="4754880"/>
            <a:ext cx="2743200" cy="201168"/>
          </a:xfrm>
          <a:prstGeom prst="rect">
            <a:avLst/>
          </a:prstGeom>
          <a:noFill/>
          <a:ln/>
        </p:spPr>
        <p:txBody>
          <a:bodyPr wrap="square" lIns="0" tIns="0" rIns="0" bIns="0" rtlCol="0" anchor="ctr"/>
          <a:lstStyle/>
          <a:p>
            <a:pPr indent="0" marL="0">
              <a:buNone/>
            </a:pPr>
            <a:r>
              <a:rPr lang="en-US" sz="900" dirty="0">
                <a:solidFill>
                  <a:srgbClr val="6F87A0"/>
                </a:solidFill>
                <a:latin typeface="Calibri" pitchFamily="34" charset="0"/>
                <a:ea typeface="Calibri" pitchFamily="34" charset="-122"/>
                <a:cs typeface="Calibri" pitchFamily="34" charset="-120"/>
              </a:rPr>
              <a:t>Sonardyne in Brazil</a:t>
            </a:r>
            <a:endParaRPr lang="en-US" sz="900" dirty="0"/>
          </a:p>
        </p:txBody>
      </p:sp>
      <p:sp>
        <p:nvSpPr>
          <p:cNvPr id="5" name="Text 3"/>
          <p:cNvSpPr txBox="1"/>
          <p:nvPr/>
        </p:nvSpPr>
        <p:spPr>
          <a:xfrm>
            <a:off x="7772400" y="4754880"/>
            <a:ext cx="914400" cy="201168"/>
          </a:xfrm>
          <a:prstGeom prst="rect">
            <a:avLst/>
          </a:prstGeom>
          <a:noFill/>
          <a:ln/>
        </p:spPr>
        <p:txBody>
          <a:bodyPr wrap="square" lIns="0" tIns="0" rIns="0" bIns="0" rtlCol="0" anchor="ctr"/>
          <a:lstStyle/>
          <a:p>
            <a:pPr algn="r" indent="0" marL="0">
              <a:buNone/>
            </a:pPr>
            <a:r>
              <a:rPr lang="en-US" sz="900" dirty="0">
                <a:solidFill>
                  <a:srgbClr val="6F87A0"/>
                </a:solidFill>
                <a:latin typeface="Calibri" pitchFamily="34" charset="0"/>
                <a:ea typeface="Calibri" pitchFamily="34" charset="-122"/>
                <a:cs typeface="Calibri" pitchFamily="34" charset="-120"/>
              </a:rPr>
              <a:t>06 / 12</a:t>
            </a:r>
            <a:endParaRPr lang="en-US" sz="900" dirty="0"/>
          </a:p>
        </p:txBody>
      </p:sp>
      <p:sp>
        <p:nvSpPr>
          <p:cNvPr id="6" name="Shape 4"/>
          <p:cNvSpPr/>
          <p:nvPr/>
        </p:nvSpPr>
        <p:spPr>
          <a:xfrm>
            <a:off x="457200" y="1417320"/>
            <a:ext cx="8229600" cy="1371600"/>
          </a:xfrm>
          <a:prstGeom prst="rect">
            <a:avLst/>
          </a:prstGeom>
          <a:solidFill>
            <a:srgbClr val="0B3456">
              <a:alpha val="80000"/>
            </a:srgbClr>
          </a:solidFill>
          <a:ln/>
        </p:spPr>
      </p:sp>
      <p:sp>
        <p:nvSpPr>
          <p:cNvPr id="7" name="Shape 5"/>
          <p:cNvSpPr/>
          <p:nvPr/>
        </p:nvSpPr>
        <p:spPr>
          <a:xfrm>
            <a:off x="457200" y="2788920"/>
            <a:ext cx="8229600" cy="256032"/>
          </a:xfrm>
          <a:prstGeom prst="rect">
            <a:avLst/>
          </a:prstGeom>
          <a:solidFill>
            <a:srgbClr val="3A4A48"/>
          </a:solidFill>
          <a:ln/>
        </p:spPr>
      </p:sp>
      <p:sp>
        <p:nvSpPr>
          <p:cNvPr id="8" name="Shape 6"/>
          <p:cNvSpPr/>
          <p:nvPr/>
        </p:nvSpPr>
        <p:spPr>
          <a:xfrm>
            <a:off x="457200" y="1417320"/>
            <a:ext cx="8229600" cy="0"/>
          </a:xfrm>
          <a:prstGeom prst="line">
            <a:avLst/>
          </a:prstGeom>
          <a:noFill/>
          <a:ln w="19050">
            <a:solidFill>
              <a:srgbClr val="5FA8D3"/>
            </a:solidFill>
            <a:prstDash val="solid"/>
          </a:ln>
        </p:spPr>
      </p:sp>
      <p:sp>
        <p:nvSpPr>
          <p:cNvPr id="9" name="Shape 7"/>
          <p:cNvSpPr/>
          <p:nvPr/>
        </p:nvSpPr>
        <p:spPr>
          <a:xfrm rot="10800000">
            <a:off x="1097280" y="1234440"/>
            <a:ext cx="1005840" cy="182880"/>
          </a:xfrm>
          <a:prstGeom prst="trapezoid">
            <a:avLst/>
          </a:prstGeom>
          <a:solidFill>
            <a:srgbClr val="E8EFF6"/>
          </a:solidFill>
          <a:ln/>
        </p:spPr>
      </p:sp>
      <p:sp>
        <p:nvSpPr>
          <p:cNvPr id="10" name="Shape 8"/>
          <p:cNvSpPr/>
          <p:nvPr/>
        </p:nvSpPr>
        <p:spPr>
          <a:xfrm>
            <a:off x="1417320" y="1088136"/>
            <a:ext cx="320040" cy="146304"/>
          </a:xfrm>
          <a:prstGeom prst="rect">
            <a:avLst/>
          </a:prstGeom>
          <a:solidFill>
            <a:srgbClr val="E8EFF6"/>
          </a:solidFill>
          <a:ln/>
        </p:spPr>
      </p:sp>
      <p:sp>
        <p:nvSpPr>
          <p:cNvPr id="11" name="Text 9"/>
          <p:cNvSpPr txBox="1"/>
          <p:nvPr/>
        </p:nvSpPr>
        <p:spPr>
          <a:xfrm>
            <a:off x="2194560" y="1188720"/>
            <a:ext cx="1371600" cy="228600"/>
          </a:xfrm>
          <a:prstGeom prst="rect">
            <a:avLst/>
          </a:prstGeom>
          <a:noFill/>
          <a:ln/>
        </p:spPr>
        <p:txBody>
          <a:bodyPr wrap="square" lIns="0" tIns="0" rIns="0" bIns="0" rtlCol="0" anchor="ctr"/>
          <a:lstStyle/>
          <a:p>
            <a:pPr indent="0" marL="0">
              <a:buNone/>
            </a:pPr>
            <a:r>
              <a:rPr lang="en-US" sz="900" dirty="0">
                <a:solidFill>
                  <a:srgbClr val="9FB3C8"/>
                </a:solidFill>
                <a:latin typeface="Calibri" pitchFamily="34" charset="0"/>
                <a:ea typeface="Calibri" pitchFamily="34" charset="-122"/>
                <a:cs typeface="Calibri" pitchFamily="34" charset="-120"/>
              </a:rPr>
              <a:t>Survey vessel</a:t>
            </a:r>
            <a:endParaRPr lang="en-US" sz="900" dirty="0"/>
          </a:p>
        </p:txBody>
      </p:sp>
      <p:sp>
        <p:nvSpPr>
          <p:cNvPr id="12" name="Shape 10"/>
          <p:cNvSpPr/>
          <p:nvPr/>
        </p:nvSpPr>
        <p:spPr>
          <a:xfrm>
            <a:off x="1280160" y="1143000"/>
            <a:ext cx="640080" cy="640080"/>
          </a:xfrm>
          <a:prstGeom prst="arc">
            <a:avLst>
              <a:gd name="adj1" fmla="val 2700000"/>
              <a:gd name="adj2" fmla="val 8100000"/>
            </a:avLst>
          </a:prstGeom>
          <a:ln w="15875">
            <a:solidFill>
              <a:srgbClr val="17B584"/>
            </a:solidFill>
            <a:prstDash val="dash"/>
          </a:ln>
        </p:spPr>
      </p:sp>
      <p:sp>
        <p:nvSpPr>
          <p:cNvPr id="13" name="Shape 11"/>
          <p:cNvSpPr/>
          <p:nvPr/>
        </p:nvSpPr>
        <p:spPr>
          <a:xfrm>
            <a:off x="960120" y="822960"/>
            <a:ext cx="1280160" cy="1280160"/>
          </a:xfrm>
          <a:prstGeom prst="arc">
            <a:avLst>
              <a:gd name="adj1" fmla="val 2700000"/>
              <a:gd name="adj2" fmla="val 8100000"/>
            </a:avLst>
          </a:prstGeom>
          <a:ln w="15875">
            <a:solidFill>
              <a:srgbClr val="17B584"/>
            </a:solidFill>
            <a:prstDash val="dash"/>
          </a:ln>
        </p:spPr>
      </p:sp>
      <p:sp>
        <p:nvSpPr>
          <p:cNvPr id="14" name="Shape 12"/>
          <p:cNvSpPr/>
          <p:nvPr/>
        </p:nvSpPr>
        <p:spPr>
          <a:xfrm>
            <a:off x="640080" y="502920"/>
            <a:ext cx="1920240" cy="1920240"/>
          </a:xfrm>
          <a:prstGeom prst="arc">
            <a:avLst>
              <a:gd name="adj1" fmla="val 2700000"/>
              <a:gd name="adj2" fmla="val 8100000"/>
            </a:avLst>
          </a:prstGeom>
          <a:ln w="15875">
            <a:solidFill>
              <a:srgbClr val="17B584"/>
            </a:solidFill>
            <a:prstDash val="dash"/>
          </a:ln>
        </p:spPr>
      </p:sp>
      <p:sp>
        <p:nvSpPr>
          <p:cNvPr id="15" name="Text 13"/>
          <p:cNvSpPr txBox="1"/>
          <p:nvPr/>
        </p:nvSpPr>
        <p:spPr>
          <a:xfrm>
            <a:off x="594360" y="2468880"/>
            <a:ext cx="2194560" cy="228600"/>
          </a:xfrm>
          <a:prstGeom prst="rect">
            <a:avLst/>
          </a:prstGeom>
          <a:noFill/>
          <a:ln/>
        </p:spPr>
        <p:txBody>
          <a:bodyPr wrap="square" lIns="0" tIns="0" rIns="0" bIns="0" rtlCol="0" anchor="ctr"/>
          <a:lstStyle/>
          <a:p>
            <a:pPr indent="0" marL="0">
              <a:buNone/>
            </a:pPr>
            <a:r>
              <a:rPr lang="en-US" sz="900" b="1" dirty="0">
                <a:solidFill>
                  <a:srgbClr val="17B584"/>
                </a:solidFill>
                <a:latin typeface="Calibri" pitchFamily="34" charset="0"/>
                <a:ea typeface="Calibri" pitchFamily="34" charset="-122"/>
                <a:cs typeface="Calibri" pitchFamily="34" charset="-120"/>
              </a:rPr>
              <a:t>Acoustic command + clock sync</a:t>
            </a:r>
            <a:endParaRPr lang="en-US" sz="900" dirty="0"/>
          </a:p>
        </p:txBody>
      </p:sp>
      <p:sp>
        <p:nvSpPr>
          <p:cNvPr id="16" name="Shape 14"/>
          <p:cNvSpPr/>
          <p:nvPr/>
        </p:nvSpPr>
        <p:spPr>
          <a:xfrm>
            <a:off x="914400" y="2679192"/>
            <a:ext cx="237744" cy="128016"/>
          </a:xfrm>
          <a:prstGeom prst="roundRect">
            <a:avLst>
              <a:gd name="adj" fmla="val 21429"/>
            </a:avLst>
          </a:prstGeom>
          <a:solidFill>
            <a:srgbClr val="F2C12E"/>
          </a:solidFill>
          <a:ln/>
        </p:spPr>
      </p:sp>
      <p:sp>
        <p:nvSpPr>
          <p:cNvPr id="17" name="Shape 15"/>
          <p:cNvSpPr/>
          <p:nvPr/>
        </p:nvSpPr>
        <p:spPr>
          <a:xfrm>
            <a:off x="1572768" y="2679192"/>
            <a:ext cx="237744" cy="128016"/>
          </a:xfrm>
          <a:prstGeom prst="roundRect">
            <a:avLst>
              <a:gd name="adj" fmla="val 21429"/>
            </a:avLst>
          </a:prstGeom>
          <a:solidFill>
            <a:srgbClr val="F2C12E"/>
          </a:solidFill>
          <a:ln/>
        </p:spPr>
      </p:sp>
      <p:sp>
        <p:nvSpPr>
          <p:cNvPr id="18" name="Shape 16"/>
          <p:cNvSpPr/>
          <p:nvPr/>
        </p:nvSpPr>
        <p:spPr>
          <a:xfrm>
            <a:off x="2231136" y="2679192"/>
            <a:ext cx="237744" cy="128016"/>
          </a:xfrm>
          <a:prstGeom prst="roundRect">
            <a:avLst>
              <a:gd name="adj" fmla="val 21429"/>
            </a:avLst>
          </a:prstGeom>
          <a:solidFill>
            <a:srgbClr val="F2C12E"/>
          </a:solidFill>
          <a:ln/>
        </p:spPr>
      </p:sp>
      <p:sp>
        <p:nvSpPr>
          <p:cNvPr id="19" name="Shape 17"/>
          <p:cNvSpPr/>
          <p:nvPr/>
        </p:nvSpPr>
        <p:spPr>
          <a:xfrm>
            <a:off x="2889504" y="2679192"/>
            <a:ext cx="237744" cy="128016"/>
          </a:xfrm>
          <a:prstGeom prst="roundRect">
            <a:avLst>
              <a:gd name="adj" fmla="val 21429"/>
            </a:avLst>
          </a:prstGeom>
          <a:solidFill>
            <a:srgbClr val="F2C12E"/>
          </a:solidFill>
          <a:ln/>
        </p:spPr>
      </p:sp>
      <p:sp>
        <p:nvSpPr>
          <p:cNvPr id="20" name="Shape 18"/>
          <p:cNvSpPr/>
          <p:nvPr/>
        </p:nvSpPr>
        <p:spPr>
          <a:xfrm>
            <a:off x="3547872" y="2679192"/>
            <a:ext cx="237744" cy="128016"/>
          </a:xfrm>
          <a:prstGeom prst="roundRect">
            <a:avLst>
              <a:gd name="adj" fmla="val 21429"/>
            </a:avLst>
          </a:prstGeom>
          <a:solidFill>
            <a:srgbClr val="F2C12E"/>
          </a:solidFill>
          <a:ln/>
        </p:spPr>
      </p:sp>
      <p:sp>
        <p:nvSpPr>
          <p:cNvPr id="21" name="Shape 19"/>
          <p:cNvSpPr/>
          <p:nvPr/>
        </p:nvSpPr>
        <p:spPr>
          <a:xfrm>
            <a:off x="4206240" y="2679192"/>
            <a:ext cx="237744" cy="128016"/>
          </a:xfrm>
          <a:prstGeom prst="roundRect">
            <a:avLst>
              <a:gd name="adj" fmla="val 21429"/>
            </a:avLst>
          </a:prstGeom>
          <a:solidFill>
            <a:srgbClr val="F2C12E"/>
          </a:solidFill>
          <a:ln/>
        </p:spPr>
      </p:sp>
      <p:sp>
        <p:nvSpPr>
          <p:cNvPr id="22" name="Shape 20"/>
          <p:cNvSpPr/>
          <p:nvPr/>
        </p:nvSpPr>
        <p:spPr>
          <a:xfrm>
            <a:off x="4864608" y="2679192"/>
            <a:ext cx="237744" cy="128016"/>
          </a:xfrm>
          <a:prstGeom prst="roundRect">
            <a:avLst>
              <a:gd name="adj" fmla="val 21429"/>
            </a:avLst>
          </a:prstGeom>
          <a:solidFill>
            <a:srgbClr val="F2C12E"/>
          </a:solidFill>
          <a:ln/>
        </p:spPr>
      </p:sp>
      <p:sp>
        <p:nvSpPr>
          <p:cNvPr id="23" name="Shape 21"/>
          <p:cNvSpPr/>
          <p:nvPr/>
        </p:nvSpPr>
        <p:spPr>
          <a:xfrm>
            <a:off x="5522976" y="2679192"/>
            <a:ext cx="237744" cy="128016"/>
          </a:xfrm>
          <a:prstGeom prst="roundRect">
            <a:avLst>
              <a:gd name="adj" fmla="val 21429"/>
            </a:avLst>
          </a:prstGeom>
          <a:solidFill>
            <a:srgbClr val="F2C12E"/>
          </a:solidFill>
          <a:ln/>
        </p:spPr>
      </p:sp>
      <p:sp>
        <p:nvSpPr>
          <p:cNvPr id="24" name="Shape 22"/>
          <p:cNvSpPr/>
          <p:nvPr/>
        </p:nvSpPr>
        <p:spPr>
          <a:xfrm>
            <a:off x="6181344" y="2679192"/>
            <a:ext cx="237744" cy="128016"/>
          </a:xfrm>
          <a:prstGeom prst="roundRect">
            <a:avLst>
              <a:gd name="adj" fmla="val 21429"/>
            </a:avLst>
          </a:prstGeom>
          <a:solidFill>
            <a:srgbClr val="F2C12E"/>
          </a:solidFill>
          <a:ln/>
        </p:spPr>
      </p:sp>
      <p:sp>
        <p:nvSpPr>
          <p:cNvPr id="25" name="Shape 23"/>
          <p:cNvSpPr/>
          <p:nvPr/>
        </p:nvSpPr>
        <p:spPr>
          <a:xfrm>
            <a:off x="6839712" y="2679192"/>
            <a:ext cx="237744" cy="128016"/>
          </a:xfrm>
          <a:prstGeom prst="roundRect">
            <a:avLst>
              <a:gd name="adj" fmla="val 21429"/>
            </a:avLst>
          </a:prstGeom>
          <a:solidFill>
            <a:srgbClr val="F2C12E"/>
          </a:solidFill>
          <a:ln/>
        </p:spPr>
      </p:sp>
      <p:sp>
        <p:nvSpPr>
          <p:cNvPr id="26" name="Shape 24"/>
          <p:cNvSpPr/>
          <p:nvPr/>
        </p:nvSpPr>
        <p:spPr>
          <a:xfrm>
            <a:off x="7498080" y="2679192"/>
            <a:ext cx="237744" cy="128016"/>
          </a:xfrm>
          <a:prstGeom prst="roundRect">
            <a:avLst>
              <a:gd name="adj" fmla="val 21429"/>
            </a:avLst>
          </a:prstGeom>
          <a:solidFill>
            <a:srgbClr val="F2C12E"/>
          </a:solidFill>
          <a:ln/>
        </p:spPr>
      </p:sp>
      <p:sp>
        <p:nvSpPr>
          <p:cNvPr id="27" name="Shape 25"/>
          <p:cNvSpPr/>
          <p:nvPr/>
        </p:nvSpPr>
        <p:spPr>
          <a:xfrm>
            <a:off x="8156448" y="2679192"/>
            <a:ext cx="237744" cy="128016"/>
          </a:xfrm>
          <a:prstGeom prst="roundRect">
            <a:avLst>
              <a:gd name="adj" fmla="val 21429"/>
            </a:avLst>
          </a:prstGeom>
          <a:solidFill>
            <a:srgbClr val="F2C12E"/>
          </a:solidFill>
          <a:ln/>
        </p:spPr>
      </p:sp>
      <p:sp>
        <p:nvSpPr>
          <p:cNvPr id="28" name="Text 26"/>
          <p:cNvSpPr txBox="1"/>
          <p:nvPr/>
        </p:nvSpPr>
        <p:spPr>
          <a:xfrm>
            <a:off x="3017520" y="2816352"/>
            <a:ext cx="310896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OD OBNs on the seabed, ~2,000 m</a:t>
            </a:r>
            <a:endParaRPr lang="en-US" sz="900" dirty="0"/>
          </a:p>
        </p:txBody>
      </p:sp>
      <p:sp>
        <p:nvSpPr>
          <p:cNvPr id="29" name="Shape 27"/>
          <p:cNvSpPr/>
          <p:nvPr/>
        </p:nvSpPr>
        <p:spPr>
          <a:xfrm>
            <a:off x="6263640" y="2103120"/>
            <a:ext cx="731520" cy="566928"/>
          </a:xfrm>
          <a:prstGeom prst="triangle">
            <a:avLst/>
          </a:prstGeom>
          <a:solidFill>
            <a:srgbClr val="7CF5C8">
              <a:alpha val="45000"/>
            </a:srgbClr>
          </a:solidFill>
          <a:ln/>
        </p:spPr>
      </p:sp>
      <p:sp>
        <p:nvSpPr>
          <p:cNvPr id="30" name="Shape 28"/>
          <p:cNvSpPr/>
          <p:nvPr/>
        </p:nvSpPr>
        <p:spPr>
          <a:xfrm>
            <a:off x="6126480" y="1874520"/>
            <a:ext cx="1005840" cy="274320"/>
          </a:xfrm>
          <a:prstGeom prst="roundRect">
            <a:avLst>
              <a:gd name="adj" fmla="val 50000"/>
            </a:avLst>
          </a:prstGeom>
          <a:solidFill>
            <a:srgbClr val="17B584"/>
          </a:solidFill>
          <a:ln/>
        </p:spPr>
      </p:sp>
      <p:sp>
        <p:nvSpPr>
          <p:cNvPr id="31" name="Text 29"/>
          <p:cNvSpPr txBox="1"/>
          <p:nvPr/>
        </p:nvSpPr>
        <p:spPr>
          <a:xfrm>
            <a:off x="7223760" y="1783080"/>
            <a:ext cx="1371600" cy="22860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FlatFish AUV</a:t>
            </a:r>
            <a:endParaRPr lang="en-US" sz="900" dirty="0"/>
          </a:p>
        </p:txBody>
      </p:sp>
      <p:sp>
        <p:nvSpPr>
          <p:cNvPr id="32" name="Text 30"/>
          <p:cNvSpPr txBox="1"/>
          <p:nvPr/>
        </p:nvSpPr>
        <p:spPr>
          <a:xfrm>
            <a:off x="7223760" y="2011680"/>
            <a:ext cx="1371600" cy="365760"/>
          </a:xfrm>
          <a:prstGeom prst="rect">
            <a:avLst/>
          </a:prstGeom>
          <a:noFill/>
          <a:ln/>
        </p:spPr>
        <p:txBody>
          <a:bodyPr wrap="square" lIns="0" tIns="0" rIns="0" bIns="0" rtlCol="0" anchor="t"/>
          <a:lstStyle/>
          <a:p>
            <a:pPr indent="0" marL="0">
              <a:buNone/>
            </a:pPr>
            <a:r>
              <a:rPr lang="en-US" sz="900" dirty="0">
                <a:solidFill>
                  <a:srgbClr val="7CF5C8"/>
                </a:solidFill>
                <a:latin typeface="Calibri" pitchFamily="34" charset="0"/>
                <a:ea typeface="Calibri" pitchFamily="34" charset="-122"/>
                <a:cs typeface="Calibri" pitchFamily="34" charset="-120"/>
              </a:rPr>
              <a:t>BlueComm optical download</a:t>
            </a:r>
            <a:endParaRPr lang="en-US" sz="900" dirty="0"/>
          </a:p>
        </p:txBody>
      </p:sp>
      <p:sp>
        <p:nvSpPr>
          <p:cNvPr id="33" name="Shape 31"/>
          <p:cNvSpPr/>
          <p:nvPr/>
        </p:nvSpPr>
        <p:spPr>
          <a:xfrm>
            <a:off x="457200" y="3246120"/>
            <a:ext cx="1554480" cy="1325880"/>
          </a:xfrm>
          <a:prstGeom prst="roundRect">
            <a:avLst>
              <a:gd name="adj" fmla="val 5517"/>
            </a:avLst>
          </a:prstGeom>
          <a:solidFill>
            <a:srgbClr val="0F2F4F"/>
          </a:solidFill>
          <a:ln w="9525">
            <a:solidFill>
              <a:srgbClr val="24507A"/>
            </a:solidFill>
            <a:prstDash val="solid"/>
          </a:ln>
        </p:spPr>
      </p:sp>
      <p:sp>
        <p:nvSpPr>
          <p:cNvPr id="34" name="Shape 32"/>
          <p:cNvSpPr/>
          <p:nvPr/>
        </p:nvSpPr>
        <p:spPr>
          <a:xfrm>
            <a:off x="594360" y="3383280"/>
            <a:ext cx="347472" cy="347472"/>
          </a:xfrm>
          <a:prstGeom prst="ellipse">
            <a:avLst/>
          </a:prstGeom>
          <a:solidFill>
            <a:srgbClr val="0E8A5F"/>
          </a:solidFill>
          <a:ln/>
        </p:spPr>
      </p:sp>
      <p:pic>
        <p:nvPicPr>
          <p:cNvPr id="35" name="Image 0" descr="preencoded.png">    </p:cNvPr>
          <p:cNvPicPr>
            <a:picLocks noChangeAspect="1"/>
          </p:cNvPicPr>
          <p:nvPr/>
        </p:nvPicPr>
        <p:blipFill>
          <a:blip r:embed="rId2"/>
          <a:stretch>
            <a:fillRect/>
          </a:stretch>
        </p:blipFill>
        <p:spPr>
          <a:xfrm>
            <a:off x="684703" y="3473623"/>
            <a:ext cx="166787" cy="166787"/>
          </a:xfrm>
          <a:prstGeom prst="rect">
            <a:avLst/>
          </a:prstGeom>
        </p:spPr>
      </p:pic>
      <p:sp>
        <p:nvSpPr>
          <p:cNvPr id="36" name="Text 33"/>
          <p:cNvSpPr txBox="1"/>
          <p:nvPr/>
        </p:nvSpPr>
        <p:spPr>
          <a:xfrm>
            <a:off x="1005840" y="3383280"/>
            <a:ext cx="914400" cy="347472"/>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1  Deploy</a:t>
            </a:r>
            <a:endParaRPr lang="en-US" sz="1150" dirty="0"/>
          </a:p>
        </p:txBody>
      </p:sp>
      <p:sp>
        <p:nvSpPr>
          <p:cNvPr id="37" name="Text 34"/>
          <p:cNvSpPr txBox="1"/>
          <p:nvPr/>
        </p:nvSpPr>
        <p:spPr>
          <a:xfrm>
            <a:off x="594360" y="3822192"/>
            <a:ext cx="1280160" cy="685800"/>
          </a:xfrm>
          <a:prstGeom prst="rect">
            <a:avLst/>
          </a:prstGeom>
          <a:noFill/>
          <a:ln/>
        </p:spPr>
        <p:txBody>
          <a:bodyPr wrap="square" lIns="0" tIns="0" rIns="0" bIns="0" rtlCol="0" anchor="t"/>
          <a:lstStyle/>
          <a:p>
            <a:pPr indent="0" marL="0">
              <a:buNone/>
            </a:pPr>
            <a:r>
              <a:rPr lang="en-US" sz="1000" dirty="0">
                <a:solidFill>
                  <a:srgbClr val="9FB3C8"/>
                </a:solidFill>
                <a:latin typeface="Calibri" pitchFamily="34" charset="0"/>
                <a:ea typeface="Calibri" pitchFamily="34" charset="-122"/>
                <a:cs typeface="Calibri" pitchFamily="34" charset="-120"/>
              </a:rPr>
              <a:t>Nodes left over the reservoir for years</a:t>
            </a:r>
            <a:endParaRPr lang="en-US" sz="1000" dirty="0"/>
          </a:p>
        </p:txBody>
      </p:sp>
      <p:sp>
        <p:nvSpPr>
          <p:cNvPr id="38" name="Shape 35"/>
          <p:cNvSpPr/>
          <p:nvPr/>
        </p:nvSpPr>
        <p:spPr>
          <a:xfrm>
            <a:off x="2130552" y="3246120"/>
            <a:ext cx="1554480" cy="1325880"/>
          </a:xfrm>
          <a:prstGeom prst="roundRect">
            <a:avLst>
              <a:gd name="adj" fmla="val 5517"/>
            </a:avLst>
          </a:prstGeom>
          <a:solidFill>
            <a:srgbClr val="0F2F4F"/>
          </a:solidFill>
          <a:ln w="9525">
            <a:solidFill>
              <a:srgbClr val="24507A"/>
            </a:solidFill>
            <a:prstDash val="solid"/>
          </a:ln>
        </p:spPr>
      </p:sp>
      <p:sp>
        <p:nvSpPr>
          <p:cNvPr id="39" name="Shape 36"/>
          <p:cNvSpPr/>
          <p:nvPr/>
        </p:nvSpPr>
        <p:spPr>
          <a:xfrm>
            <a:off x="2267712" y="3383280"/>
            <a:ext cx="347472" cy="347472"/>
          </a:xfrm>
          <a:prstGeom prst="ellipse">
            <a:avLst/>
          </a:prstGeom>
          <a:solidFill>
            <a:srgbClr val="0E8A5F"/>
          </a:solidFill>
          <a:ln/>
        </p:spPr>
      </p:sp>
      <p:pic>
        <p:nvPicPr>
          <p:cNvPr id="40" name="Image 1" descr="preencoded.png">    </p:cNvPr>
          <p:cNvPicPr>
            <a:picLocks noChangeAspect="1"/>
          </p:cNvPicPr>
          <p:nvPr/>
        </p:nvPicPr>
        <p:blipFill>
          <a:blip r:embed="rId3"/>
          <a:stretch>
            <a:fillRect/>
          </a:stretch>
        </p:blipFill>
        <p:spPr>
          <a:xfrm>
            <a:off x="2358055" y="3473623"/>
            <a:ext cx="166787" cy="166787"/>
          </a:xfrm>
          <a:prstGeom prst="rect">
            <a:avLst/>
          </a:prstGeom>
        </p:spPr>
      </p:pic>
      <p:sp>
        <p:nvSpPr>
          <p:cNvPr id="41" name="Text 37"/>
          <p:cNvSpPr txBox="1"/>
          <p:nvPr/>
        </p:nvSpPr>
        <p:spPr>
          <a:xfrm>
            <a:off x="2679192" y="3383280"/>
            <a:ext cx="914400" cy="347472"/>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2  Sync</a:t>
            </a:r>
            <a:endParaRPr lang="en-US" sz="1150" dirty="0"/>
          </a:p>
        </p:txBody>
      </p:sp>
      <p:sp>
        <p:nvSpPr>
          <p:cNvPr id="42" name="Text 38"/>
          <p:cNvSpPr txBox="1"/>
          <p:nvPr/>
        </p:nvSpPr>
        <p:spPr>
          <a:xfrm>
            <a:off x="2267712" y="3822192"/>
            <a:ext cx="1280160" cy="685800"/>
          </a:xfrm>
          <a:prstGeom prst="rect">
            <a:avLst/>
          </a:prstGeom>
          <a:noFill/>
          <a:ln/>
        </p:spPr>
        <p:txBody>
          <a:bodyPr wrap="square" lIns="0" tIns="0" rIns="0" bIns="0" rtlCol="0" anchor="t"/>
          <a:lstStyle/>
          <a:p>
            <a:pPr indent="0" marL="0">
              <a:buNone/>
            </a:pPr>
            <a:r>
              <a:rPr lang="en-US" sz="1000" dirty="0">
                <a:solidFill>
                  <a:srgbClr val="9FB3C8"/>
                </a:solidFill>
                <a:latin typeface="Calibri" pitchFamily="34" charset="0"/>
                <a:ea typeface="Calibri" pitchFamily="34" charset="-122"/>
                <a:cs typeface="Calibri" pitchFamily="34" charset="-120"/>
              </a:rPr>
              <a:t>Acoustic commands start recording and sync clocks</a:t>
            </a:r>
            <a:endParaRPr lang="en-US" sz="1000" dirty="0"/>
          </a:p>
        </p:txBody>
      </p:sp>
      <p:sp>
        <p:nvSpPr>
          <p:cNvPr id="43" name="Shape 39"/>
          <p:cNvSpPr/>
          <p:nvPr/>
        </p:nvSpPr>
        <p:spPr>
          <a:xfrm>
            <a:off x="3803904" y="3246120"/>
            <a:ext cx="1554480" cy="1325880"/>
          </a:xfrm>
          <a:prstGeom prst="roundRect">
            <a:avLst>
              <a:gd name="adj" fmla="val 5517"/>
            </a:avLst>
          </a:prstGeom>
          <a:solidFill>
            <a:srgbClr val="0F2F4F"/>
          </a:solidFill>
          <a:ln w="9525">
            <a:solidFill>
              <a:srgbClr val="24507A"/>
            </a:solidFill>
            <a:prstDash val="solid"/>
          </a:ln>
        </p:spPr>
      </p:sp>
      <p:sp>
        <p:nvSpPr>
          <p:cNvPr id="44" name="Shape 40"/>
          <p:cNvSpPr/>
          <p:nvPr/>
        </p:nvSpPr>
        <p:spPr>
          <a:xfrm>
            <a:off x="3941064" y="3383280"/>
            <a:ext cx="347472" cy="347472"/>
          </a:xfrm>
          <a:prstGeom prst="ellipse">
            <a:avLst/>
          </a:prstGeom>
          <a:solidFill>
            <a:srgbClr val="0E8A5F"/>
          </a:solidFill>
          <a:ln/>
        </p:spPr>
      </p:sp>
      <p:pic>
        <p:nvPicPr>
          <p:cNvPr id="45" name="Image 2" descr="preencoded.png">    </p:cNvPr>
          <p:cNvPicPr>
            <a:picLocks noChangeAspect="1"/>
          </p:cNvPicPr>
          <p:nvPr/>
        </p:nvPicPr>
        <p:blipFill>
          <a:blip r:embed="rId4"/>
          <a:stretch>
            <a:fillRect/>
          </a:stretch>
        </p:blipFill>
        <p:spPr>
          <a:xfrm>
            <a:off x="4031407" y="3473623"/>
            <a:ext cx="166787" cy="166787"/>
          </a:xfrm>
          <a:prstGeom prst="rect">
            <a:avLst/>
          </a:prstGeom>
        </p:spPr>
      </p:pic>
      <p:sp>
        <p:nvSpPr>
          <p:cNvPr id="46" name="Text 41"/>
          <p:cNvSpPr txBox="1"/>
          <p:nvPr/>
        </p:nvSpPr>
        <p:spPr>
          <a:xfrm>
            <a:off x="4352544" y="3383280"/>
            <a:ext cx="914400" cy="347472"/>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3  Record</a:t>
            </a:r>
            <a:endParaRPr lang="en-US" sz="1150" dirty="0"/>
          </a:p>
        </p:txBody>
      </p:sp>
      <p:sp>
        <p:nvSpPr>
          <p:cNvPr id="47" name="Text 42"/>
          <p:cNvSpPr txBox="1"/>
          <p:nvPr/>
        </p:nvSpPr>
        <p:spPr>
          <a:xfrm>
            <a:off x="3941064" y="3822192"/>
            <a:ext cx="1280160" cy="685800"/>
          </a:xfrm>
          <a:prstGeom prst="rect">
            <a:avLst/>
          </a:prstGeom>
          <a:noFill/>
          <a:ln/>
        </p:spPr>
        <p:txBody>
          <a:bodyPr wrap="square" lIns="0" tIns="0" rIns="0" bIns="0" rtlCol="0" anchor="t"/>
          <a:lstStyle/>
          <a:p>
            <a:pPr indent="0" marL="0">
              <a:buNone/>
            </a:pPr>
            <a:r>
              <a:rPr lang="en-US" sz="1000" dirty="0">
                <a:solidFill>
                  <a:srgbClr val="9FB3C8"/>
                </a:solidFill>
                <a:latin typeface="Calibri" pitchFamily="34" charset="0"/>
                <a:ea typeface="Calibri" pitchFamily="34" charset="-122"/>
                <a:cs typeface="Calibri" pitchFamily="34" charset="-120"/>
              </a:rPr>
              <a:t>Capture energy reflected from the reservoir</a:t>
            </a:r>
            <a:endParaRPr lang="en-US" sz="1000" dirty="0"/>
          </a:p>
        </p:txBody>
      </p:sp>
      <p:sp>
        <p:nvSpPr>
          <p:cNvPr id="48" name="Shape 43"/>
          <p:cNvSpPr/>
          <p:nvPr/>
        </p:nvSpPr>
        <p:spPr>
          <a:xfrm>
            <a:off x="5477256" y="3246120"/>
            <a:ext cx="1554480" cy="1325880"/>
          </a:xfrm>
          <a:prstGeom prst="roundRect">
            <a:avLst>
              <a:gd name="adj" fmla="val 5517"/>
            </a:avLst>
          </a:prstGeom>
          <a:solidFill>
            <a:srgbClr val="0F2F4F"/>
          </a:solidFill>
          <a:ln w="9525">
            <a:solidFill>
              <a:srgbClr val="24507A"/>
            </a:solidFill>
            <a:prstDash val="solid"/>
          </a:ln>
        </p:spPr>
      </p:sp>
      <p:sp>
        <p:nvSpPr>
          <p:cNvPr id="49" name="Shape 44"/>
          <p:cNvSpPr/>
          <p:nvPr/>
        </p:nvSpPr>
        <p:spPr>
          <a:xfrm>
            <a:off x="5614416" y="3383280"/>
            <a:ext cx="347472" cy="347472"/>
          </a:xfrm>
          <a:prstGeom prst="ellipse">
            <a:avLst/>
          </a:prstGeom>
          <a:solidFill>
            <a:srgbClr val="F2C12E"/>
          </a:solidFill>
          <a:ln/>
        </p:spPr>
      </p:sp>
      <p:pic>
        <p:nvPicPr>
          <p:cNvPr id="50" name="Image 3" descr="preencoded.png">    </p:cNvPr>
          <p:cNvPicPr>
            <a:picLocks noChangeAspect="1"/>
          </p:cNvPicPr>
          <p:nvPr/>
        </p:nvPicPr>
        <p:blipFill>
          <a:blip r:embed="rId5"/>
          <a:stretch>
            <a:fillRect/>
          </a:stretch>
        </p:blipFill>
        <p:spPr>
          <a:xfrm>
            <a:off x="5704759" y="3473623"/>
            <a:ext cx="166787" cy="166787"/>
          </a:xfrm>
          <a:prstGeom prst="rect">
            <a:avLst/>
          </a:prstGeom>
        </p:spPr>
      </p:pic>
      <p:sp>
        <p:nvSpPr>
          <p:cNvPr id="51" name="Text 45"/>
          <p:cNvSpPr txBox="1"/>
          <p:nvPr/>
        </p:nvSpPr>
        <p:spPr>
          <a:xfrm>
            <a:off x="6025896" y="3383280"/>
            <a:ext cx="914400" cy="347472"/>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4  Harvest</a:t>
            </a:r>
            <a:endParaRPr lang="en-US" sz="1150" dirty="0"/>
          </a:p>
        </p:txBody>
      </p:sp>
      <p:sp>
        <p:nvSpPr>
          <p:cNvPr id="52" name="Text 46"/>
          <p:cNvSpPr txBox="1"/>
          <p:nvPr/>
        </p:nvSpPr>
        <p:spPr>
          <a:xfrm>
            <a:off x="5614416" y="3822192"/>
            <a:ext cx="1280160" cy="685800"/>
          </a:xfrm>
          <a:prstGeom prst="rect">
            <a:avLst/>
          </a:prstGeom>
          <a:noFill/>
          <a:ln/>
        </p:spPr>
        <p:txBody>
          <a:bodyPr wrap="square" lIns="0" tIns="0" rIns="0" bIns="0" rtlCol="0" anchor="t"/>
          <a:lstStyle/>
          <a:p>
            <a:pPr indent="0" marL="0">
              <a:buNone/>
            </a:pPr>
            <a:r>
              <a:rPr lang="en-US" sz="1000" dirty="0">
                <a:solidFill>
                  <a:srgbClr val="9FB3C8"/>
                </a:solidFill>
                <a:latin typeface="Calibri" pitchFamily="34" charset="0"/>
                <a:ea typeface="Calibri" pitchFamily="34" charset="-122"/>
                <a:cs typeface="Calibri" pitchFamily="34" charset="-120"/>
              </a:rPr>
              <a:t>AUV pulls data over a BlueComm optical link</a:t>
            </a:r>
            <a:endParaRPr lang="en-US" sz="1000" dirty="0"/>
          </a:p>
        </p:txBody>
      </p:sp>
      <p:sp>
        <p:nvSpPr>
          <p:cNvPr id="53" name="Shape 47"/>
          <p:cNvSpPr/>
          <p:nvPr/>
        </p:nvSpPr>
        <p:spPr>
          <a:xfrm>
            <a:off x="7150608" y="3246120"/>
            <a:ext cx="1554480" cy="1325880"/>
          </a:xfrm>
          <a:prstGeom prst="roundRect">
            <a:avLst>
              <a:gd name="adj" fmla="val 5517"/>
            </a:avLst>
          </a:prstGeom>
          <a:solidFill>
            <a:srgbClr val="0F2F4F"/>
          </a:solidFill>
          <a:ln w="9525">
            <a:solidFill>
              <a:srgbClr val="24507A"/>
            </a:solidFill>
            <a:prstDash val="solid"/>
          </a:ln>
        </p:spPr>
      </p:sp>
      <p:sp>
        <p:nvSpPr>
          <p:cNvPr id="54" name="Shape 48"/>
          <p:cNvSpPr/>
          <p:nvPr/>
        </p:nvSpPr>
        <p:spPr>
          <a:xfrm>
            <a:off x="7287768" y="3383280"/>
            <a:ext cx="347472" cy="347472"/>
          </a:xfrm>
          <a:prstGeom prst="ellipse">
            <a:avLst/>
          </a:prstGeom>
          <a:solidFill>
            <a:srgbClr val="0E8A5F"/>
          </a:solidFill>
          <a:ln/>
        </p:spPr>
      </p:sp>
      <p:pic>
        <p:nvPicPr>
          <p:cNvPr id="55" name="Image 4" descr="preencoded.png">    </p:cNvPr>
          <p:cNvPicPr>
            <a:picLocks noChangeAspect="1"/>
          </p:cNvPicPr>
          <p:nvPr/>
        </p:nvPicPr>
        <p:blipFill>
          <a:blip r:embed="rId6"/>
          <a:stretch>
            <a:fillRect/>
          </a:stretch>
        </p:blipFill>
        <p:spPr>
          <a:xfrm>
            <a:off x="7378111" y="3473623"/>
            <a:ext cx="166787" cy="166787"/>
          </a:xfrm>
          <a:prstGeom prst="rect">
            <a:avLst/>
          </a:prstGeom>
        </p:spPr>
      </p:pic>
      <p:sp>
        <p:nvSpPr>
          <p:cNvPr id="56" name="Text 49"/>
          <p:cNvSpPr txBox="1"/>
          <p:nvPr/>
        </p:nvSpPr>
        <p:spPr>
          <a:xfrm>
            <a:off x="7699248" y="3383280"/>
            <a:ext cx="914400" cy="347472"/>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5  Process</a:t>
            </a:r>
            <a:endParaRPr lang="en-US" sz="1150" dirty="0"/>
          </a:p>
        </p:txBody>
      </p:sp>
      <p:sp>
        <p:nvSpPr>
          <p:cNvPr id="57" name="Text 50"/>
          <p:cNvSpPr txBox="1"/>
          <p:nvPr/>
        </p:nvSpPr>
        <p:spPr>
          <a:xfrm>
            <a:off x="7287768" y="3822192"/>
            <a:ext cx="1280160" cy="685800"/>
          </a:xfrm>
          <a:prstGeom prst="rect">
            <a:avLst/>
          </a:prstGeom>
          <a:noFill/>
          <a:ln/>
        </p:spPr>
        <p:txBody>
          <a:bodyPr wrap="square" lIns="0" tIns="0" rIns="0" bIns="0" rtlCol="0" anchor="t"/>
          <a:lstStyle/>
          <a:p>
            <a:pPr indent="0" marL="0">
              <a:buNone/>
            </a:pPr>
            <a:r>
              <a:rPr lang="en-US" sz="1000" dirty="0">
                <a:solidFill>
                  <a:srgbClr val="9FB3C8"/>
                </a:solidFill>
                <a:latin typeface="Calibri" pitchFamily="34" charset="0"/>
                <a:ea typeface="Calibri" pitchFamily="34" charset="-122"/>
                <a:cs typeface="Calibri" pitchFamily="34" charset="-120"/>
              </a:rPr>
              <a:t>4D workflows track fluid movement</a:t>
            </a:r>
            <a:endParaRPr lang="en-US" sz="1000" dirty="0"/>
          </a:p>
        </p:txBody>
      </p:sp>
    </p:spTree>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92608"/>
            <a:ext cx="6400800" cy="228600"/>
          </a:xfrm>
          <a:prstGeom prst="rect">
            <a:avLst/>
          </a:prstGeom>
          <a:noFill/>
          <a:ln/>
        </p:spPr>
        <p:txBody>
          <a:bodyPr wrap="square" lIns="0" tIns="0" rIns="0" bIns="0" rtlCol="0" anchor="ctr"/>
          <a:lstStyle/>
          <a:p>
            <a:pPr indent="0" marL="0">
              <a:buNone/>
            </a:pPr>
            <a:r>
              <a:rPr lang="en-US" sz="1000" b="1" spc="300" kern="0" dirty="0">
                <a:solidFill>
                  <a:srgbClr val="17B584"/>
                </a:solidFill>
                <a:latin typeface="Calibri" pitchFamily="34" charset="0"/>
                <a:ea typeface="Calibri" pitchFamily="34" charset="-122"/>
                <a:cs typeface="Calibri" pitchFamily="34" charset="-120"/>
              </a:rPr>
              <a:t>FIRST FIELD DEPLOYMENT</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Mero: first field deployment in the pre-salt</a:t>
            </a:r>
            <a:endParaRPr lang="en-US" sz="2400" dirty="0"/>
          </a:p>
        </p:txBody>
      </p:sp>
      <p:sp>
        <p:nvSpPr>
          <p:cNvPr id="4" name="Text 2"/>
          <p:cNvSpPr txBox="1"/>
          <p:nvPr/>
        </p:nvSpPr>
        <p:spPr>
          <a:xfrm>
            <a:off x="457200" y="4754880"/>
            <a:ext cx="2743200" cy="201168"/>
          </a:xfrm>
          <a:prstGeom prst="rect">
            <a:avLst/>
          </a:prstGeom>
          <a:noFill/>
          <a:ln/>
        </p:spPr>
        <p:txBody>
          <a:bodyPr wrap="square" lIns="0" tIns="0" rIns="0" bIns="0" rtlCol="0" anchor="ctr"/>
          <a:lstStyle/>
          <a:p>
            <a:pPr indent="0" marL="0">
              <a:buNone/>
            </a:pPr>
            <a:r>
              <a:rPr lang="en-US" sz="900" dirty="0">
                <a:solidFill>
                  <a:srgbClr val="6F87A0"/>
                </a:solidFill>
                <a:latin typeface="Calibri" pitchFamily="34" charset="0"/>
                <a:ea typeface="Calibri" pitchFamily="34" charset="-122"/>
                <a:cs typeface="Calibri" pitchFamily="34" charset="-120"/>
              </a:rPr>
              <a:t>Sonardyne in Brazil</a:t>
            </a:r>
            <a:endParaRPr lang="en-US" sz="900" dirty="0"/>
          </a:p>
        </p:txBody>
      </p:sp>
      <p:sp>
        <p:nvSpPr>
          <p:cNvPr id="5" name="Text 3"/>
          <p:cNvSpPr txBox="1"/>
          <p:nvPr/>
        </p:nvSpPr>
        <p:spPr>
          <a:xfrm>
            <a:off x="7772400" y="4754880"/>
            <a:ext cx="914400" cy="201168"/>
          </a:xfrm>
          <a:prstGeom prst="rect">
            <a:avLst/>
          </a:prstGeom>
          <a:noFill/>
          <a:ln/>
        </p:spPr>
        <p:txBody>
          <a:bodyPr wrap="square" lIns="0" tIns="0" rIns="0" bIns="0" rtlCol="0" anchor="ctr"/>
          <a:lstStyle/>
          <a:p>
            <a:pPr algn="r" indent="0" marL="0">
              <a:buNone/>
            </a:pPr>
            <a:r>
              <a:rPr lang="en-US" sz="900" dirty="0">
                <a:solidFill>
                  <a:srgbClr val="6F87A0"/>
                </a:solidFill>
                <a:latin typeface="Calibri" pitchFamily="34" charset="0"/>
                <a:ea typeface="Calibri" pitchFamily="34" charset="-122"/>
                <a:cs typeface="Calibri" pitchFamily="34" charset="-120"/>
              </a:rPr>
              <a:t>07 / 12</a:t>
            </a:r>
            <a:endParaRPr lang="en-US" sz="900" dirty="0"/>
          </a:p>
        </p:txBody>
      </p:sp>
      <p:sp>
        <p:nvSpPr>
          <p:cNvPr id="6" name="Shape 4"/>
          <p:cNvSpPr/>
          <p:nvPr/>
        </p:nvSpPr>
        <p:spPr>
          <a:xfrm>
            <a:off x="457200" y="1325880"/>
            <a:ext cx="3931920" cy="3200400"/>
          </a:xfrm>
          <a:prstGeom prst="roundRect">
            <a:avLst>
              <a:gd name="adj" fmla="val 2286"/>
            </a:avLst>
          </a:prstGeom>
          <a:solidFill>
            <a:srgbClr val="0F2F4F"/>
          </a:solidFill>
          <a:ln w="9525">
            <a:solidFill>
              <a:srgbClr val="24507A"/>
            </a:solidFill>
            <a:prstDash val="solid"/>
          </a:ln>
        </p:spPr>
      </p:sp>
      <p:sp>
        <p:nvSpPr>
          <p:cNvPr id="7" name="Text 5"/>
          <p:cNvSpPr txBox="1"/>
          <p:nvPr/>
        </p:nvSpPr>
        <p:spPr>
          <a:xfrm>
            <a:off x="685800" y="1463040"/>
            <a:ext cx="347472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Mero consortium share</a:t>
            </a:r>
            <a:endParaRPr lang="en-US" sz="1200" dirty="0"/>
          </a:p>
        </p:txBody>
      </p:sp>
      <p:graphicFrame>
        <p:nvGraphicFramePr>
          <p:cNvPr id="8" name="Chart 0" descr=""/>
          <p:cNvGraphicFramePr/>
          <p:nvPr/>
        </p:nvGraphicFramePr>
        <p:xfrm>
          <a:off x="548640" y="1783080"/>
          <a:ext cx="2103120" cy="2560320"/>
        </p:xfrm>
        <a:graphic xmlns:a="http://schemas.openxmlformats.org/drawingml/2006/main">
          <a:graphicData uri="http://schemas.openxmlformats.org/drawingml/2006/chart">
            <c:chart xmlns:c="http://schemas.openxmlformats.org/drawingml/2006/chart" r:id="rId2"/>
          </a:graphicData>
        </a:graphic>
      </p:graphicFrame>
      <p:sp>
        <p:nvSpPr>
          <p:cNvPr id="9" name="Text 6"/>
          <p:cNvSpPr txBox="1"/>
          <p:nvPr/>
        </p:nvSpPr>
        <p:spPr>
          <a:xfrm>
            <a:off x="1051560" y="2743200"/>
            <a:ext cx="1097280" cy="640080"/>
          </a:xfrm>
          <a:prstGeom prst="rect">
            <a:avLst/>
          </a:prstGeom>
          <a:noFill/>
          <a:ln/>
        </p:spPr>
        <p:txBody>
          <a:bodyPr wrap="square" lIns="0" tIns="0" rIns="0" bIns="0" rtlCol="0" anchor="ctr"/>
          <a:lstStyle/>
          <a:p>
            <a:pPr algn="ctr" indent="0" marL="0">
              <a:buNone/>
            </a:pPr>
            <a:r>
              <a:rPr lang="en-US" sz="2000" b="1" dirty="0">
                <a:solidFill>
                  <a:srgbClr val="17B584"/>
                </a:solidFill>
                <a:latin typeface="Arial" pitchFamily="34" charset="0"/>
                <a:ea typeface="Arial" pitchFamily="34" charset="-122"/>
                <a:cs typeface="Arial" pitchFamily="34" charset="-120"/>
              </a:rPr>
              <a:t>38.6%</a:t>
            </a:r>
            <a:endParaRPr lang="en-US" sz="2000" dirty="0"/>
          </a:p>
          <a:p>
            <a:pPr algn="ctr" indent="0" marL="0">
              <a:buNone/>
            </a:pPr>
            <a:r>
              <a:rPr lang="en-US" sz="1000" dirty="0">
                <a:solidFill>
                  <a:srgbClr val="9FB3C8"/>
                </a:solidFill>
                <a:latin typeface="Arial" pitchFamily="34" charset="0"/>
                <a:ea typeface="Arial" pitchFamily="34" charset="-122"/>
                <a:cs typeface="Arial" pitchFamily="34" charset="-120"/>
              </a:rPr>
              <a:t>Petrobras</a:t>
            </a:r>
            <a:endParaRPr lang="en-US" sz="2000" dirty="0"/>
          </a:p>
        </p:txBody>
      </p:sp>
      <p:sp>
        <p:nvSpPr>
          <p:cNvPr id="10" name="Shape 7"/>
          <p:cNvSpPr/>
          <p:nvPr/>
        </p:nvSpPr>
        <p:spPr>
          <a:xfrm>
            <a:off x="2743200" y="2039112"/>
            <a:ext cx="128016" cy="128016"/>
          </a:xfrm>
          <a:prstGeom prst="ellipse">
            <a:avLst/>
          </a:prstGeom>
          <a:solidFill>
            <a:srgbClr val="0E8A5F"/>
          </a:solidFill>
          <a:ln/>
        </p:spPr>
      </p:sp>
      <p:sp>
        <p:nvSpPr>
          <p:cNvPr id="11" name="Text 8"/>
          <p:cNvSpPr txBox="1"/>
          <p:nvPr/>
        </p:nvSpPr>
        <p:spPr>
          <a:xfrm>
            <a:off x="2944368" y="1965960"/>
            <a:ext cx="1417320" cy="274320"/>
          </a:xfrm>
          <a:prstGeom prst="rect">
            <a:avLst/>
          </a:prstGeom>
          <a:noFill/>
          <a:ln/>
        </p:spPr>
        <p:txBody>
          <a:bodyPr wrap="square" lIns="0" tIns="0" rIns="0" bIns="0" rtlCol="0" anchor="ctr"/>
          <a:lstStyle/>
          <a:p>
            <a:pPr indent="0" marL="0">
              <a:buNone/>
            </a:pPr>
            <a:r>
              <a:rPr lang="en-US" sz="1050" dirty="0">
                <a:solidFill>
                  <a:srgbClr val="E8EFF6"/>
                </a:solidFill>
                <a:latin typeface="Calibri" pitchFamily="34" charset="0"/>
                <a:ea typeface="Calibri" pitchFamily="34" charset="-122"/>
                <a:cs typeface="Calibri" pitchFamily="34" charset="-120"/>
              </a:rPr>
              <a:t>Petrobras  </a:t>
            </a:r>
            <a:pPr indent="0" marL="0">
              <a:buNone/>
            </a:pPr>
            <a:r>
              <a:rPr lang="en-US" sz="1050" dirty="0">
                <a:solidFill>
                  <a:srgbClr val="9FB3C8"/>
                </a:solidFill>
                <a:latin typeface="Calibri" pitchFamily="34" charset="0"/>
                <a:ea typeface="Calibri" pitchFamily="34" charset="-122"/>
                <a:cs typeface="Calibri" pitchFamily="34" charset="-120"/>
              </a:rPr>
              <a:t>38.6%</a:t>
            </a:r>
            <a:endParaRPr lang="en-US" sz="1050" dirty="0"/>
          </a:p>
        </p:txBody>
      </p:sp>
      <p:sp>
        <p:nvSpPr>
          <p:cNvPr id="12" name="Shape 9"/>
          <p:cNvSpPr/>
          <p:nvPr/>
        </p:nvSpPr>
        <p:spPr>
          <a:xfrm>
            <a:off x="2743200" y="2404872"/>
            <a:ext cx="128016" cy="128016"/>
          </a:xfrm>
          <a:prstGeom prst="ellipse">
            <a:avLst/>
          </a:prstGeom>
          <a:solidFill>
            <a:srgbClr val="F2C12E"/>
          </a:solidFill>
          <a:ln/>
        </p:spPr>
      </p:sp>
      <p:sp>
        <p:nvSpPr>
          <p:cNvPr id="13" name="Text 10"/>
          <p:cNvSpPr txBox="1"/>
          <p:nvPr/>
        </p:nvSpPr>
        <p:spPr>
          <a:xfrm>
            <a:off x="2944368" y="2331720"/>
            <a:ext cx="1417320" cy="274320"/>
          </a:xfrm>
          <a:prstGeom prst="rect">
            <a:avLst/>
          </a:prstGeom>
          <a:noFill/>
          <a:ln/>
        </p:spPr>
        <p:txBody>
          <a:bodyPr wrap="square" lIns="0" tIns="0" rIns="0" bIns="0" rtlCol="0" anchor="ctr"/>
          <a:lstStyle/>
          <a:p>
            <a:pPr indent="0" marL="0">
              <a:buNone/>
            </a:pPr>
            <a:r>
              <a:rPr lang="en-US" sz="1050" dirty="0">
                <a:solidFill>
                  <a:srgbClr val="E8EFF6"/>
                </a:solidFill>
                <a:latin typeface="Calibri" pitchFamily="34" charset="0"/>
                <a:ea typeface="Calibri" pitchFamily="34" charset="-122"/>
                <a:cs typeface="Calibri" pitchFamily="34" charset="-120"/>
              </a:rPr>
              <a:t>Shell Brasil  </a:t>
            </a:r>
            <a:pPr indent="0" marL="0">
              <a:buNone/>
            </a:pPr>
            <a:r>
              <a:rPr lang="en-US" sz="1050" dirty="0">
                <a:solidFill>
                  <a:srgbClr val="9FB3C8"/>
                </a:solidFill>
                <a:latin typeface="Calibri" pitchFamily="34" charset="0"/>
                <a:ea typeface="Calibri" pitchFamily="34" charset="-122"/>
                <a:cs typeface="Calibri" pitchFamily="34" charset="-120"/>
              </a:rPr>
              <a:t>19.3%</a:t>
            </a:r>
            <a:endParaRPr lang="en-US" sz="1050" dirty="0"/>
          </a:p>
        </p:txBody>
      </p:sp>
      <p:sp>
        <p:nvSpPr>
          <p:cNvPr id="14" name="Shape 11"/>
          <p:cNvSpPr/>
          <p:nvPr/>
        </p:nvSpPr>
        <p:spPr>
          <a:xfrm>
            <a:off x="2743200" y="2770632"/>
            <a:ext cx="128016" cy="128016"/>
          </a:xfrm>
          <a:prstGeom prst="ellipse">
            <a:avLst/>
          </a:prstGeom>
          <a:solidFill>
            <a:srgbClr val="5FA8D3"/>
          </a:solidFill>
          <a:ln/>
        </p:spPr>
      </p:sp>
      <p:sp>
        <p:nvSpPr>
          <p:cNvPr id="15" name="Text 12"/>
          <p:cNvSpPr txBox="1"/>
          <p:nvPr/>
        </p:nvSpPr>
        <p:spPr>
          <a:xfrm>
            <a:off x="2944368" y="2697480"/>
            <a:ext cx="1417320" cy="274320"/>
          </a:xfrm>
          <a:prstGeom prst="rect">
            <a:avLst/>
          </a:prstGeom>
          <a:noFill/>
          <a:ln/>
        </p:spPr>
        <p:txBody>
          <a:bodyPr wrap="square" lIns="0" tIns="0" rIns="0" bIns="0" rtlCol="0" anchor="ctr"/>
          <a:lstStyle/>
          <a:p>
            <a:pPr indent="0" marL="0">
              <a:buNone/>
            </a:pPr>
            <a:r>
              <a:rPr lang="en-US" sz="1050" dirty="0">
                <a:solidFill>
                  <a:srgbClr val="E8EFF6"/>
                </a:solidFill>
                <a:latin typeface="Calibri" pitchFamily="34" charset="0"/>
                <a:ea typeface="Calibri" pitchFamily="34" charset="-122"/>
                <a:cs typeface="Calibri" pitchFamily="34" charset="-120"/>
              </a:rPr>
              <a:t>TotalEnergies  </a:t>
            </a:r>
            <a:pPr indent="0" marL="0">
              <a:buNone/>
            </a:pPr>
            <a:r>
              <a:rPr lang="en-US" sz="1050" dirty="0">
                <a:solidFill>
                  <a:srgbClr val="9FB3C8"/>
                </a:solidFill>
                <a:latin typeface="Calibri" pitchFamily="34" charset="0"/>
                <a:ea typeface="Calibri" pitchFamily="34" charset="-122"/>
                <a:cs typeface="Calibri" pitchFamily="34" charset="-120"/>
              </a:rPr>
              <a:t>19.3%</a:t>
            </a:r>
            <a:endParaRPr lang="en-US" sz="1050" dirty="0"/>
          </a:p>
        </p:txBody>
      </p:sp>
      <p:sp>
        <p:nvSpPr>
          <p:cNvPr id="16" name="Shape 13"/>
          <p:cNvSpPr/>
          <p:nvPr/>
        </p:nvSpPr>
        <p:spPr>
          <a:xfrm>
            <a:off x="2743200" y="3136392"/>
            <a:ext cx="128016" cy="128016"/>
          </a:xfrm>
          <a:prstGeom prst="ellipse">
            <a:avLst/>
          </a:prstGeom>
          <a:solidFill>
            <a:srgbClr val="7C93AD"/>
          </a:solidFill>
          <a:ln/>
        </p:spPr>
      </p:sp>
      <p:sp>
        <p:nvSpPr>
          <p:cNvPr id="17" name="Text 14"/>
          <p:cNvSpPr txBox="1"/>
          <p:nvPr/>
        </p:nvSpPr>
        <p:spPr>
          <a:xfrm>
            <a:off x="2944368" y="3063240"/>
            <a:ext cx="1417320" cy="274320"/>
          </a:xfrm>
          <a:prstGeom prst="rect">
            <a:avLst/>
          </a:prstGeom>
          <a:noFill/>
          <a:ln/>
        </p:spPr>
        <p:txBody>
          <a:bodyPr wrap="square" lIns="0" tIns="0" rIns="0" bIns="0" rtlCol="0" anchor="ctr"/>
          <a:lstStyle/>
          <a:p>
            <a:pPr indent="0" marL="0">
              <a:buNone/>
            </a:pPr>
            <a:r>
              <a:rPr lang="en-US" sz="1050" dirty="0">
                <a:solidFill>
                  <a:srgbClr val="E8EFF6"/>
                </a:solidFill>
                <a:latin typeface="Calibri" pitchFamily="34" charset="0"/>
                <a:ea typeface="Calibri" pitchFamily="34" charset="-122"/>
                <a:cs typeface="Calibri" pitchFamily="34" charset="-120"/>
              </a:rPr>
              <a:t>CNPC  </a:t>
            </a:r>
            <a:pPr indent="0" marL="0">
              <a:buNone/>
            </a:pPr>
            <a:r>
              <a:rPr lang="en-US" sz="1050" dirty="0">
                <a:solidFill>
                  <a:srgbClr val="9FB3C8"/>
                </a:solidFill>
                <a:latin typeface="Calibri" pitchFamily="34" charset="0"/>
                <a:ea typeface="Calibri" pitchFamily="34" charset="-122"/>
                <a:cs typeface="Calibri" pitchFamily="34" charset="-120"/>
              </a:rPr>
              <a:t>9.65%</a:t>
            </a:r>
            <a:endParaRPr lang="en-US" sz="1050" dirty="0"/>
          </a:p>
        </p:txBody>
      </p:sp>
      <p:sp>
        <p:nvSpPr>
          <p:cNvPr id="18" name="Shape 15"/>
          <p:cNvSpPr/>
          <p:nvPr/>
        </p:nvSpPr>
        <p:spPr>
          <a:xfrm>
            <a:off x="2743200" y="3502152"/>
            <a:ext cx="128016" cy="128016"/>
          </a:xfrm>
          <a:prstGeom prst="ellipse">
            <a:avLst/>
          </a:prstGeom>
          <a:solidFill>
            <a:srgbClr val="4F6B88"/>
          </a:solidFill>
          <a:ln/>
        </p:spPr>
      </p:sp>
      <p:sp>
        <p:nvSpPr>
          <p:cNvPr id="19" name="Text 16"/>
          <p:cNvSpPr txBox="1"/>
          <p:nvPr/>
        </p:nvSpPr>
        <p:spPr>
          <a:xfrm>
            <a:off x="2944368" y="3429000"/>
            <a:ext cx="1417320" cy="274320"/>
          </a:xfrm>
          <a:prstGeom prst="rect">
            <a:avLst/>
          </a:prstGeom>
          <a:noFill/>
          <a:ln/>
        </p:spPr>
        <p:txBody>
          <a:bodyPr wrap="square" lIns="0" tIns="0" rIns="0" bIns="0" rtlCol="0" anchor="ctr"/>
          <a:lstStyle/>
          <a:p>
            <a:pPr indent="0" marL="0">
              <a:buNone/>
            </a:pPr>
            <a:r>
              <a:rPr lang="en-US" sz="1050" dirty="0">
                <a:solidFill>
                  <a:srgbClr val="E8EFF6"/>
                </a:solidFill>
                <a:latin typeface="Calibri" pitchFamily="34" charset="0"/>
                <a:ea typeface="Calibri" pitchFamily="34" charset="-122"/>
                <a:cs typeface="Calibri" pitchFamily="34" charset="-120"/>
              </a:rPr>
              <a:t>CNOOC  </a:t>
            </a:r>
            <a:pPr indent="0" marL="0">
              <a:buNone/>
            </a:pPr>
            <a:r>
              <a:rPr lang="en-US" sz="1050" dirty="0">
                <a:solidFill>
                  <a:srgbClr val="9FB3C8"/>
                </a:solidFill>
                <a:latin typeface="Calibri" pitchFamily="34" charset="0"/>
                <a:ea typeface="Calibri" pitchFamily="34" charset="-122"/>
                <a:cs typeface="Calibri" pitchFamily="34" charset="-120"/>
              </a:rPr>
              <a:t>9.65%</a:t>
            </a:r>
            <a:endParaRPr lang="en-US" sz="1050" dirty="0"/>
          </a:p>
        </p:txBody>
      </p:sp>
      <p:sp>
        <p:nvSpPr>
          <p:cNvPr id="20" name="Shape 17"/>
          <p:cNvSpPr/>
          <p:nvPr/>
        </p:nvSpPr>
        <p:spPr>
          <a:xfrm>
            <a:off x="2743200" y="3867912"/>
            <a:ext cx="128016" cy="128016"/>
          </a:xfrm>
          <a:prstGeom prst="ellipse">
            <a:avLst/>
          </a:prstGeom>
          <a:solidFill>
            <a:srgbClr val="33506E"/>
          </a:solidFill>
          <a:ln/>
        </p:spPr>
      </p:sp>
      <p:sp>
        <p:nvSpPr>
          <p:cNvPr id="21" name="Text 18"/>
          <p:cNvSpPr txBox="1"/>
          <p:nvPr/>
        </p:nvSpPr>
        <p:spPr>
          <a:xfrm>
            <a:off x="2944368" y="3794760"/>
            <a:ext cx="1417320" cy="274320"/>
          </a:xfrm>
          <a:prstGeom prst="rect">
            <a:avLst/>
          </a:prstGeom>
          <a:noFill/>
          <a:ln/>
        </p:spPr>
        <p:txBody>
          <a:bodyPr wrap="square" lIns="0" tIns="0" rIns="0" bIns="0" rtlCol="0" anchor="ctr"/>
          <a:lstStyle/>
          <a:p>
            <a:pPr indent="0" marL="0">
              <a:buNone/>
            </a:pPr>
            <a:r>
              <a:rPr lang="en-US" sz="1050" dirty="0">
                <a:solidFill>
                  <a:srgbClr val="E8EFF6"/>
                </a:solidFill>
                <a:latin typeface="Calibri" pitchFamily="34" charset="0"/>
                <a:ea typeface="Calibri" pitchFamily="34" charset="-122"/>
                <a:cs typeface="Calibri" pitchFamily="34" charset="-120"/>
              </a:rPr>
              <a:t>PPSA  </a:t>
            </a:r>
            <a:pPr indent="0" marL="0">
              <a:buNone/>
            </a:pPr>
            <a:r>
              <a:rPr lang="en-US" sz="1050" dirty="0">
                <a:solidFill>
                  <a:srgbClr val="9FB3C8"/>
                </a:solidFill>
                <a:latin typeface="Calibri" pitchFamily="34" charset="0"/>
                <a:ea typeface="Calibri" pitchFamily="34" charset="-122"/>
                <a:cs typeface="Calibri" pitchFamily="34" charset="-120"/>
              </a:rPr>
              <a:t>3.5%</a:t>
            </a:r>
            <a:endParaRPr lang="en-US" sz="1050" dirty="0"/>
          </a:p>
        </p:txBody>
      </p:sp>
      <p:sp>
        <p:nvSpPr>
          <p:cNvPr id="22" name="Shape 19"/>
          <p:cNvSpPr/>
          <p:nvPr/>
        </p:nvSpPr>
        <p:spPr>
          <a:xfrm>
            <a:off x="4663440" y="1371600"/>
            <a:ext cx="365760" cy="365760"/>
          </a:xfrm>
          <a:prstGeom prst="ellipse">
            <a:avLst/>
          </a:prstGeom>
          <a:solidFill>
            <a:srgbClr val="0E8A5F"/>
          </a:solidFill>
          <a:ln/>
        </p:spPr>
      </p:sp>
      <p:pic>
        <p:nvPicPr>
          <p:cNvPr id="23" name="Image 0" descr="preencoded.png">    </p:cNvPr>
          <p:cNvPicPr>
            <a:picLocks noChangeAspect="1"/>
          </p:cNvPicPr>
          <p:nvPr/>
        </p:nvPicPr>
        <p:blipFill>
          <a:blip r:embed="rId3"/>
          <a:stretch>
            <a:fillRect/>
          </a:stretch>
        </p:blipFill>
        <p:spPr>
          <a:xfrm>
            <a:off x="4758538" y="1466698"/>
            <a:ext cx="175565" cy="175565"/>
          </a:xfrm>
          <a:prstGeom prst="rect">
            <a:avLst/>
          </a:prstGeom>
        </p:spPr>
      </p:pic>
      <p:sp>
        <p:nvSpPr>
          <p:cNvPr id="24" name="Text 20"/>
          <p:cNvSpPr txBox="1"/>
          <p:nvPr/>
        </p:nvSpPr>
        <p:spPr>
          <a:xfrm>
            <a:off x="5166360" y="1371600"/>
            <a:ext cx="3520440" cy="36576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Santos Basin pre-salt, ~2,000 m water depth</a:t>
            </a:r>
            <a:endParaRPr lang="en-US" sz="1250" dirty="0"/>
          </a:p>
        </p:txBody>
      </p:sp>
      <p:sp>
        <p:nvSpPr>
          <p:cNvPr id="25" name="Shape 21"/>
          <p:cNvSpPr/>
          <p:nvPr/>
        </p:nvSpPr>
        <p:spPr>
          <a:xfrm>
            <a:off x="4663440" y="1874520"/>
            <a:ext cx="365760" cy="365760"/>
          </a:xfrm>
          <a:prstGeom prst="ellipse">
            <a:avLst/>
          </a:prstGeom>
          <a:solidFill>
            <a:srgbClr val="0E8A5F"/>
          </a:solidFill>
          <a:ln/>
        </p:spPr>
      </p:sp>
      <p:pic>
        <p:nvPicPr>
          <p:cNvPr id="26" name="Image 1" descr="preencoded.png">    </p:cNvPr>
          <p:cNvPicPr>
            <a:picLocks noChangeAspect="1"/>
          </p:cNvPicPr>
          <p:nvPr/>
        </p:nvPicPr>
        <p:blipFill>
          <a:blip r:embed="rId4"/>
          <a:stretch>
            <a:fillRect/>
          </a:stretch>
        </p:blipFill>
        <p:spPr>
          <a:xfrm>
            <a:off x="4758538" y="1969618"/>
            <a:ext cx="175565" cy="175565"/>
          </a:xfrm>
          <a:prstGeom prst="rect">
            <a:avLst/>
          </a:prstGeom>
        </p:spPr>
      </p:pic>
      <p:sp>
        <p:nvSpPr>
          <p:cNvPr id="27" name="Text 22"/>
          <p:cNvSpPr txBox="1"/>
          <p:nvPr/>
        </p:nvSpPr>
        <p:spPr>
          <a:xfrm>
            <a:off x="5166360" y="1874520"/>
            <a:ext cx="3520440" cy="36576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First 84 nodes of the pilot batch placed early 2026</a:t>
            </a:r>
            <a:endParaRPr lang="en-US" sz="1250" dirty="0"/>
          </a:p>
        </p:txBody>
      </p:sp>
      <p:sp>
        <p:nvSpPr>
          <p:cNvPr id="28" name="Shape 23"/>
          <p:cNvSpPr/>
          <p:nvPr/>
        </p:nvSpPr>
        <p:spPr>
          <a:xfrm>
            <a:off x="4663440" y="2377440"/>
            <a:ext cx="365760" cy="365760"/>
          </a:xfrm>
          <a:prstGeom prst="ellipse">
            <a:avLst/>
          </a:prstGeom>
          <a:solidFill>
            <a:srgbClr val="0E8A5F"/>
          </a:solidFill>
          <a:ln/>
        </p:spPr>
      </p:sp>
      <p:pic>
        <p:nvPicPr>
          <p:cNvPr id="29" name="Image 2" descr="preencoded.png">    </p:cNvPr>
          <p:cNvPicPr>
            <a:picLocks noChangeAspect="1"/>
          </p:cNvPicPr>
          <p:nvPr/>
        </p:nvPicPr>
        <p:blipFill>
          <a:blip r:embed="rId5"/>
          <a:stretch>
            <a:fillRect/>
          </a:stretch>
        </p:blipFill>
        <p:spPr>
          <a:xfrm>
            <a:off x="4758538" y="2472538"/>
            <a:ext cx="175565" cy="175565"/>
          </a:xfrm>
          <a:prstGeom prst="rect">
            <a:avLst/>
          </a:prstGeom>
        </p:spPr>
      </p:pic>
      <p:sp>
        <p:nvSpPr>
          <p:cNvPr id="30" name="Text 24"/>
          <p:cNvSpPr txBox="1"/>
          <p:nvPr/>
        </p:nvSpPr>
        <p:spPr>
          <a:xfrm>
            <a:off x="5166360" y="2377440"/>
            <a:ext cx="3520440" cy="36576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Commercial production expected 2027</a:t>
            </a:r>
            <a:endParaRPr lang="en-US" sz="1250" dirty="0"/>
          </a:p>
        </p:txBody>
      </p:sp>
      <p:sp>
        <p:nvSpPr>
          <p:cNvPr id="31" name="Shape 25"/>
          <p:cNvSpPr/>
          <p:nvPr/>
        </p:nvSpPr>
        <p:spPr>
          <a:xfrm>
            <a:off x="4663440" y="2971800"/>
            <a:ext cx="4023360" cy="1554480"/>
          </a:xfrm>
          <a:prstGeom prst="roundRect">
            <a:avLst>
              <a:gd name="adj" fmla="val 4706"/>
            </a:avLst>
          </a:prstGeom>
          <a:solidFill>
            <a:srgbClr val="143A60"/>
          </a:solidFill>
          <a:ln w="9525">
            <a:solidFill>
              <a:srgbClr val="24507A"/>
            </a:solidFill>
            <a:prstDash val="solid"/>
          </a:ln>
        </p:spPr>
      </p:sp>
      <p:sp>
        <p:nvSpPr>
          <p:cNvPr id="32" name="Text 26"/>
          <p:cNvSpPr txBox="1"/>
          <p:nvPr/>
        </p:nvSpPr>
        <p:spPr>
          <a:xfrm>
            <a:off x="4892040" y="3063240"/>
            <a:ext cx="3611880" cy="1005840"/>
          </a:xfrm>
          <a:prstGeom prst="rect">
            <a:avLst/>
          </a:prstGeom>
          <a:noFill/>
          <a:ln/>
        </p:spPr>
        <p:txBody>
          <a:bodyPr wrap="square" lIns="0" tIns="0" rIns="0" bIns="0" rtlCol="0" anchor="ctr"/>
          <a:lstStyle/>
          <a:p>
            <a:pPr indent="0" marL="0">
              <a:buNone/>
            </a:pPr>
            <a:r>
              <a:rPr lang="en-US" sz="1250" i="1" dirty="0">
                <a:solidFill>
                  <a:srgbClr val="FFFFFF"/>
                </a:solidFill>
                <a:latin typeface="Calibri" pitchFamily="34" charset="0"/>
                <a:ea typeface="Calibri" pitchFamily="34" charset="-122"/>
                <a:cs typeface="Calibri" pitchFamily="34" charset="-120"/>
              </a:rPr>
              <a:t>“Seeing the OD OBN system successfully deployed at Mero is a strong validation of the technology and the collaborative R&amp;D behind it.”</a:t>
            </a:r>
            <a:endParaRPr lang="en-US" sz="1250" dirty="0"/>
          </a:p>
        </p:txBody>
      </p:sp>
      <p:sp>
        <p:nvSpPr>
          <p:cNvPr id="33" name="Text 27"/>
          <p:cNvSpPr txBox="1"/>
          <p:nvPr/>
        </p:nvSpPr>
        <p:spPr>
          <a:xfrm>
            <a:off x="4892040" y="4114800"/>
            <a:ext cx="3611880" cy="274320"/>
          </a:xfrm>
          <a:prstGeom prst="rect">
            <a:avLst/>
          </a:prstGeom>
          <a:noFill/>
          <a:ln/>
        </p:spPr>
        <p:txBody>
          <a:bodyPr wrap="square" lIns="0" tIns="0" rIns="0" bIns="0" rtlCol="0" anchor="ctr"/>
          <a:lstStyle/>
          <a:p>
            <a:pPr indent="0" marL="0">
              <a:buNone/>
            </a:pPr>
            <a:r>
              <a:rPr lang="en-US" sz="1000" dirty="0">
                <a:solidFill>
                  <a:srgbClr val="F2C12E"/>
                </a:solidFill>
                <a:latin typeface="Calibri" pitchFamily="34" charset="0"/>
                <a:ea typeface="Calibri" pitchFamily="34" charset="-122"/>
                <a:cs typeface="Calibri" pitchFamily="34" charset="-120"/>
              </a:rPr>
              <a:t>Shaun Dunn, Sonardyne (JPT, June 2026)</a:t>
            </a:r>
            <a:endParaRPr lang="en-US" sz="1000" dirty="0"/>
          </a:p>
        </p:txBody>
      </p:sp>
    </p:spTree>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92608"/>
            <a:ext cx="6400800" cy="228600"/>
          </a:xfrm>
          <a:prstGeom prst="rect">
            <a:avLst/>
          </a:prstGeom>
          <a:noFill/>
          <a:ln/>
        </p:spPr>
        <p:txBody>
          <a:bodyPr wrap="square" lIns="0" tIns="0" rIns="0" bIns="0" rtlCol="0" anchor="ctr"/>
          <a:lstStyle/>
          <a:p>
            <a:pPr indent="0" marL="0">
              <a:buNone/>
            </a:pPr>
            <a:r>
              <a:rPr lang="en-US" sz="1000" b="1" spc="300" kern="0" dirty="0">
                <a:solidFill>
                  <a:srgbClr val="17B584"/>
                </a:solidFill>
                <a:latin typeface="Calibri" pitchFamily="34" charset="0"/>
                <a:ea typeface="Calibri" pitchFamily="34" charset="-122"/>
                <a:cs typeface="Calibri" pitchFamily="34" charset="-120"/>
              </a:rPr>
              <a:t>TECHNOLOGY</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Four building blocks behind the programme</a:t>
            </a:r>
            <a:endParaRPr lang="en-US" sz="2400" dirty="0"/>
          </a:p>
        </p:txBody>
      </p:sp>
      <p:sp>
        <p:nvSpPr>
          <p:cNvPr id="4" name="Text 2"/>
          <p:cNvSpPr txBox="1"/>
          <p:nvPr/>
        </p:nvSpPr>
        <p:spPr>
          <a:xfrm>
            <a:off x="457200" y="4754880"/>
            <a:ext cx="2743200" cy="201168"/>
          </a:xfrm>
          <a:prstGeom prst="rect">
            <a:avLst/>
          </a:prstGeom>
          <a:noFill/>
          <a:ln/>
        </p:spPr>
        <p:txBody>
          <a:bodyPr wrap="square" lIns="0" tIns="0" rIns="0" bIns="0" rtlCol="0" anchor="ctr"/>
          <a:lstStyle/>
          <a:p>
            <a:pPr indent="0" marL="0">
              <a:buNone/>
            </a:pPr>
            <a:r>
              <a:rPr lang="en-US" sz="900" dirty="0">
                <a:solidFill>
                  <a:srgbClr val="6F87A0"/>
                </a:solidFill>
                <a:latin typeface="Calibri" pitchFamily="34" charset="0"/>
                <a:ea typeface="Calibri" pitchFamily="34" charset="-122"/>
                <a:cs typeface="Calibri" pitchFamily="34" charset="-120"/>
              </a:rPr>
              <a:t>Sonardyne in Brazil</a:t>
            </a:r>
            <a:endParaRPr lang="en-US" sz="900" dirty="0"/>
          </a:p>
        </p:txBody>
      </p:sp>
      <p:sp>
        <p:nvSpPr>
          <p:cNvPr id="5" name="Text 3"/>
          <p:cNvSpPr txBox="1"/>
          <p:nvPr/>
        </p:nvSpPr>
        <p:spPr>
          <a:xfrm>
            <a:off x="7772400" y="4754880"/>
            <a:ext cx="914400" cy="201168"/>
          </a:xfrm>
          <a:prstGeom prst="rect">
            <a:avLst/>
          </a:prstGeom>
          <a:noFill/>
          <a:ln/>
        </p:spPr>
        <p:txBody>
          <a:bodyPr wrap="square" lIns="0" tIns="0" rIns="0" bIns="0" rtlCol="0" anchor="ctr"/>
          <a:lstStyle/>
          <a:p>
            <a:pPr algn="r" indent="0" marL="0">
              <a:buNone/>
            </a:pPr>
            <a:r>
              <a:rPr lang="en-US" sz="900" dirty="0">
                <a:solidFill>
                  <a:srgbClr val="6F87A0"/>
                </a:solidFill>
                <a:latin typeface="Calibri" pitchFamily="34" charset="0"/>
                <a:ea typeface="Calibri" pitchFamily="34" charset="-122"/>
                <a:cs typeface="Calibri" pitchFamily="34" charset="-120"/>
              </a:rPr>
              <a:t>08 / 12</a:t>
            </a:r>
            <a:endParaRPr lang="en-US" sz="900" dirty="0"/>
          </a:p>
        </p:txBody>
      </p:sp>
      <p:sp>
        <p:nvSpPr>
          <p:cNvPr id="6" name="Shape 4"/>
          <p:cNvSpPr/>
          <p:nvPr/>
        </p:nvSpPr>
        <p:spPr>
          <a:xfrm>
            <a:off x="457200" y="1325880"/>
            <a:ext cx="4023360" cy="1463040"/>
          </a:xfrm>
          <a:prstGeom prst="roundRect">
            <a:avLst>
              <a:gd name="adj" fmla="val 5000"/>
            </a:avLst>
          </a:prstGeom>
          <a:solidFill>
            <a:srgbClr val="0F2F4F"/>
          </a:solidFill>
          <a:ln w="9525">
            <a:solidFill>
              <a:srgbClr val="24507A"/>
            </a:solidFill>
            <a:prstDash val="solid"/>
          </a:ln>
        </p:spPr>
      </p:sp>
      <p:sp>
        <p:nvSpPr>
          <p:cNvPr id="7" name="Shape 5"/>
          <p:cNvSpPr/>
          <p:nvPr/>
        </p:nvSpPr>
        <p:spPr>
          <a:xfrm>
            <a:off x="685800" y="1554480"/>
            <a:ext cx="457200" cy="457200"/>
          </a:xfrm>
          <a:prstGeom prst="ellipse">
            <a:avLst/>
          </a:prstGeom>
          <a:solidFill>
            <a:srgbClr val="0E8A5F"/>
          </a:solidFill>
          <a:ln/>
        </p:spPr>
      </p:sp>
      <p:pic>
        <p:nvPicPr>
          <p:cNvPr id="8" name="Image 0" descr="preencoded.png">    </p:cNvPr>
          <p:cNvPicPr>
            <a:picLocks noChangeAspect="1"/>
          </p:cNvPicPr>
          <p:nvPr/>
        </p:nvPicPr>
        <p:blipFill>
          <a:blip r:embed="rId2"/>
          <a:stretch>
            <a:fillRect/>
          </a:stretch>
        </p:blipFill>
        <p:spPr>
          <a:xfrm>
            <a:off x="804672" y="1673352"/>
            <a:ext cx="219456" cy="219456"/>
          </a:xfrm>
          <a:prstGeom prst="rect">
            <a:avLst/>
          </a:prstGeom>
        </p:spPr>
      </p:pic>
      <p:sp>
        <p:nvSpPr>
          <p:cNvPr id="9" name="Text 6"/>
          <p:cNvSpPr txBox="1"/>
          <p:nvPr/>
        </p:nvSpPr>
        <p:spPr>
          <a:xfrm>
            <a:off x="1280160" y="1554480"/>
            <a:ext cx="3017520" cy="45720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BlueComm optical comms</a:t>
            </a:r>
            <a:endParaRPr lang="en-US" sz="1350" dirty="0"/>
          </a:p>
        </p:txBody>
      </p:sp>
      <p:sp>
        <p:nvSpPr>
          <p:cNvPr id="10" name="Text 7"/>
          <p:cNvSpPr txBox="1"/>
          <p:nvPr/>
        </p:nvSpPr>
        <p:spPr>
          <a:xfrm>
            <a:off x="685800" y="2103120"/>
            <a:ext cx="1691640" cy="502920"/>
          </a:xfrm>
          <a:prstGeom prst="rect">
            <a:avLst/>
          </a:prstGeom>
          <a:noFill/>
          <a:ln/>
        </p:spPr>
        <p:txBody>
          <a:bodyPr wrap="square" lIns="0" tIns="0" rIns="0" bIns="0" rtlCol="0" anchor="ctr"/>
          <a:lstStyle/>
          <a:p>
            <a:pPr indent="0" marL="0">
              <a:buNone/>
            </a:pPr>
            <a:r>
              <a:rPr lang="en-US" sz="1600" b="1" dirty="0">
                <a:solidFill>
                  <a:srgbClr val="F2C12E"/>
                </a:solidFill>
                <a:latin typeface="Arial" pitchFamily="34" charset="0"/>
                <a:ea typeface="Arial" pitchFamily="34" charset="-122"/>
                <a:cs typeface="Arial" pitchFamily="34" charset="-120"/>
              </a:rPr>
              <a:t>2.5–10 Mbps</a:t>
            </a:r>
            <a:endParaRPr lang="en-US" sz="1600" dirty="0"/>
          </a:p>
        </p:txBody>
      </p:sp>
      <p:sp>
        <p:nvSpPr>
          <p:cNvPr id="11" name="Text 8"/>
          <p:cNvSpPr txBox="1"/>
          <p:nvPr/>
        </p:nvSpPr>
        <p:spPr>
          <a:xfrm>
            <a:off x="2423160" y="2075688"/>
            <a:ext cx="1874520" cy="594360"/>
          </a:xfrm>
          <a:prstGeom prst="rect">
            <a:avLst/>
          </a:prstGeom>
          <a:noFill/>
          <a:ln/>
        </p:spPr>
        <p:txBody>
          <a:bodyPr wrap="square" lIns="0" tIns="0" rIns="0" bIns="0" rtlCol="0" anchor="ctr"/>
          <a:lstStyle/>
          <a:p>
            <a:pPr indent="0" marL="0">
              <a:buNone/>
            </a:pPr>
            <a:r>
              <a:rPr lang="en-US" sz="1050" dirty="0">
                <a:solidFill>
                  <a:srgbClr val="9FB3C8"/>
                </a:solidFill>
                <a:latin typeface="Calibri" pitchFamily="34" charset="0"/>
                <a:ea typeface="Calibri" pitchFamily="34" charset="-122"/>
                <a:cs typeface="Calibri" pitchFamily="34" charset="-120"/>
              </a:rPr>
              <a:t>up to 75 m; rated to 4,000 m. 9 GB+ moved on one lithium D-cell</a:t>
            </a:r>
            <a:endParaRPr lang="en-US" sz="1050" dirty="0"/>
          </a:p>
        </p:txBody>
      </p:sp>
      <p:sp>
        <p:nvSpPr>
          <p:cNvPr id="12" name="Shape 9"/>
          <p:cNvSpPr/>
          <p:nvPr/>
        </p:nvSpPr>
        <p:spPr>
          <a:xfrm>
            <a:off x="4663440" y="1325880"/>
            <a:ext cx="4023360" cy="1463040"/>
          </a:xfrm>
          <a:prstGeom prst="roundRect">
            <a:avLst>
              <a:gd name="adj" fmla="val 5000"/>
            </a:avLst>
          </a:prstGeom>
          <a:solidFill>
            <a:srgbClr val="0F2F4F"/>
          </a:solidFill>
          <a:ln w="9525">
            <a:solidFill>
              <a:srgbClr val="24507A"/>
            </a:solidFill>
            <a:prstDash val="solid"/>
          </a:ln>
        </p:spPr>
      </p:sp>
      <p:sp>
        <p:nvSpPr>
          <p:cNvPr id="13" name="Shape 10"/>
          <p:cNvSpPr/>
          <p:nvPr/>
        </p:nvSpPr>
        <p:spPr>
          <a:xfrm>
            <a:off x="4892040" y="1554480"/>
            <a:ext cx="457200" cy="457200"/>
          </a:xfrm>
          <a:prstGeom prst="ellipse">
            <a:avLst/>
          </a:prstGeom>
          <a:solidFill>
            <a:srgbClr val="F2C12E"/>
          </a:solidFill>
          <a:ln/>
        </p:spPr>
      </p:sp>
      <p:pic>
        <p:nvPicPr>
          <p:cNvPr id="14" name="Image 1" descr="preencoded.png">    </p:cNvPr>
          <p:cNvPicPr>
            <a:picLocks noChangeAspect="1"/>
          </p:cNvPicPr>
          <p:nvPr/>
        </p:nvPicPr>
        <p:blipFill>
          <a:blip r:embed="rId3"/>
          <a:stretch>
            <a:fillRect/>
          </a:stretch>
        </p:blipFill>
        <p:spPr>
          <a:xfrm>
            <a:off x="5010912" y="1673352"/>
            <a:ext cx="219456" cy="219456"/>
          </a:xfrm>
          <a:prstGeom prst="rect">
            <a:avLst/>
          </a:prstGeom>
        </p:spPr>
      </p:pic>
      <p:sp>
        <p:nvSpPr>
          <p:cNvPr id="15" name="Text 11"/>
          <p:cNvSpPr txBox="1"/>
          <p:nvPr/>
        </p:nvSpPr>
        <p:spPr>
          <a:xfrm>
            <a:off x="5486400" y="1554480"/>
            <a:ext cx="3017520" cy="45720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Wideband acoustic control</a:t>
            </a:r>
            <a:endParaRPr lang="en-US" sz="1350" dirty="0"/>
          </a:p>
        </p:txBody>
      </p:sp>
      <p:sp>
        <p:nvSpPr>
          <p:cNvPr id="16" name="Text 12"/>
          <p:cNvSpPr txBox="1"/>
          <p:nvPr/>
        </p:nvSpPr>
        <p:spPr>
          <a:xfrm>
            <a:off x="4892040" y="2103120"/>
            <a:ext cx="1691640" cy="502920"/>
          </a:xfrm>
          <a:prstGeom prst="rect">
            <a:avLst/>
          </a:prstGeom>
          <a:noFill/>
          <a:ln/>
        </p:spPr>
        <p:txBody>
          <a:bodyPr wrap="square" lIns="0" tIns="0" rIns="0" bIns="0" rtlCol="0" anchor="ctr"/>
          <a:lstStyle/>
          <a:p>
            <a:pPr indent="0" marL="0">
              <a:buNone/>
            </a:pPr>
            <a:r>
              <a:rPr lang="en-US" sz="1600" b="1" dirty="0">
                <a:solidFill>
                  <a:srgbClr val="F2C12E"/>
                </a:solidFill>
                <a:latin typeface="Arial" pitchFamily="34" charset="0"/>
                <a:ea typeface="Arial" pitchFamily="34" charset="-122"/>
                <a:cs typeface="Arial" pitchFamily="34" charset="-120"/>
              </a:rPr>
              <a:t>100s of nodes</a:t>
            </a:r>
            <a:endParaRPr lang="en-US" sz="1600" dirty="0"/>
          </a:p>
        </p:txBody>
      </p:sp>
      <p:sp>
        <p:nvSpPr>
          <p:cNvPr id="17" name="Text 13"/>
          <p:cNvSpPr txBox="1"/>
          <p:nvPr/>
        </p:nvSpPr>
        <p:spPr>
          <a:xfrm>
            <a:off x="6629400" y="2075688"/>
            <a:ext cx="1874520" cy="594360"/>
          </a:xfrm>
          <a:prstGeom prst="rect">
            <a:avLst/>
          </a:prstGeom>
          <a:noFill/>
          <a:ln/>
        </p:spPr>
        <p:txBody>
          <a:bodyPr wrap="square" lIns="0" tIns="0" rIns="0" bIns="0" rtlCol="0" anchor="ctr"/>
          <a:lstStyle/>
          <a:p>
            <a:pPr indent="0" marL="0">
              <a:buNone/>
            </a:pPr>
            <a:r>
              <a:rPr lang="en-US" sz="1050" dirty="0">
                <a:solidFill>
                  <a:srgbClr val="9FB3C8"/>
                </a:solidFill>
                <a:latin typeface="Calibri" pitchFamily="34" charset="0"/>
                <a:ea typeface="Calibri" pitchFamily="34" charset="-122"/>
                <a:cs typeface="Calibri" pitchFamily="34" charset="-120"/>
              </a:rPr>
              <a:t>Long-range commands and seismic-grade clock sync, from 6G heritage</a:t>
            </a:r>
            <a:endParaRPr lang="en-US" sz="1050" dirty="0"/>
          </a:p>
        </p:txBody>
      </p:sp>
      <p:sp>
        <p:nvSpPr>
          <p:cNvPr id="18" name="Shape 14"/>
          <p:cNvSpPr/>
          <p:nvPr/>
        </p:nvSpPr>
        <p:spPr>
          <a:xfrm>
            <a:off x="457200" y="2971800"/>
            <a:ext cx="4023360" cy="1463040"/>
          </a:xfrm>
          <a:prstGeom prst="roundRect">
            <a:avLst>
              <a:gd name="adj" fmla="val 5000"/>
            </a:avLst>
          </a:prstGeom>
          <a:solidFill>
            <a:srgbClr val="0F2F4F"/>
          </a:solidFill>
          <a:ln w="9525">
            <a:solidFill>
              <a:srgbClr val="24507A"/>
            </a:solidFill>
            <a:prstDash val="solid"/>
          </a:ln>
        </p:spPr>
      </p:sp>
      <p:sp>
        <p:nvSpPr>
          <p:cNvPr id="19" name="Shape 15"/>
          <p:cNvSpPr/>
          <p:nvPr/>
        </p:nvSpPr>
        <p:spPr>
          <a:xfrm>
            <a:off x="685800" y="3200400"/>
            <a:ext cx="457200" cy="457200"/>
          </a:xfrm>
          <a:prstGeom prst="ellipse">
            <a:avLst/>
          </a:prstGeom>
          <a:solidFill>
            <a:srgbClr val="0E8A5F"/>
          </a:solidFill>
          <a:ln/>
        </p:spPr>
      </p:sp>
      <p:pic>
        <p:nvPicPr>
          <p:cNvPr id="20" name="Image 2" descr="preencoded.png">    </p:cNvPr>
          <p:cNvPicPr>
            <a:picLocks noChangeAspect="1"/>
          </p:cNvPicPr>
          <p:nvPr/>
        </p:nvPicPr>
        <p:blipFill>
          <a:blip r:embed="rId4"/>
          <a:stretch>
            <a:fillRect/>
          </a:stretch>
        </p:blipFill>
        <p:spPr>
          <a:xfrm>
            <a:off x="804672" y="3319272"/>
            <a:ext cx="219456" cy="219456"/>
          </a:xfrm>
          <a:prstGeom prst="rect">
            <a:avLst/>
          </a:prstGeom>
        </p:spPr>
      </p:pic>
      <p:sp>
        <p:nvSpPr>
          <p:cNvPr id="21" name="Text 16"/>
          <p:cNvSpPr txBox="1"/>
          <p:nvPr/>
        </p:nvSpPr>
        <p:spPr>
          <a:xfrm>
            <a:off x="1280160" y="3200400"/>
            <a:ext cx="3017520" cy="45720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Resident AUV harvesting</a:t>
            </a:r>
            <a:endParaRPr lang="en-US" sz="1350" dirty="0"/>
          </a:p>
        </p:txBody>
      </p:sp>
      <p:sp>
        <p:nvSpPr>
          <p:cNvPr id="22" name="Text 17"/>
          <p:cNvSpPr txBox="1"/>
          <p:nvPr/>
        </p:nvSpPr>
        <p:spPr>
          <a:xfrm>
            <a:off x="685800" y="3749040"/>
            <a:ext cx="1691640" cy="502920"/>
          </a:xfrm>
          <a:prstGeom prst="rect">
            <a:avLst/>
          </a:prstGeom>
          <a:noFill/>
          <a:ln/>
        </p:spPr>
        <p:txBody>
          <a:bodyPr wrap="square" lIns="0" tIns="0" rIns="0" bIns="0" rtlCol="0" anchor="ctr"/>
          <a:lstStyle/>
          <a:p>
            <a:pPr indent="0" marL="0">
              <a:buNone/>
            </a:pPr>
            <a:r>
              <a:rPr lang="en-US" sz="1600" b="1" dirty="0">
                <a:solidFill>
                  <a:srgbClr val="F2C12E"/>
                </a:solidFill>
                <a:latin typeface="Arial" pitchFamily="34" charset="0"/>
                <a:ea typeface="Arial" pitchFamily="34" charset="-122"/>
                <a:cs typeface="Arial" pitchFamily="34" charset="-120"/>
              </a:rPr>
              <a:t>No recovery</a:t>
            </a:r>
            <a:endParaRPr lang="en-US" sz="1600" dirty="0"/>
          </a:p>
        </p:txBody>
      </p:sp>
      <p:sp>
        <p:nvSpPr>
          <p:cNvPr id="23" name="Text 18"/>
          <p:cNvSpPr txBox="1"/>
          <p:nvPr/>
        </p:nvSpPr>
        <p:spPr>
          <a:xfrm>
            <a:off x="2423160" y="3721608"/>
            <a:ext cx="1874520" cy="594360"/>
          </a:xfrm>
          <a:prstGeom prst="rect">
            <a:avLst/>
          </a:prstGeom>
          <a:noFill/>
          <a:ln/>
        </p:spPr>
        <p:txBody>
          <a:bodyPr wrap="square" lIns="0" tIns="0" rIns="0" bIns="0" rtlCol="0" anchor="ctr"/>
          <a:lstStyle/>
          <a:p>
            <a:pPr indent="0" marL="0">
              <a:buNone/>
            </a:pPr>
            <a:r>
              <a:rPr lang="en-US" sz="1050" dirty="0">
                <a:solidFill>
                  <a:srgbClr val="9FB3C8"/>
                </a:solidFill>
                <a:latin typeface="Calibri" pitchFamily="34" charset="0"/>
                <a:ea typeface="Calibri" pitchFamily="34" charset="-122"/>
                <a:cs typeface="Calibri" pitchFamily="34" charset="-120"/>
              </a:rPr>
              <a:t>Saipem FlatFish collects data wirelessly; ROV retrieval as fallback</a:t>
            </a:r>
            <a:endParaRPr lang="en-US" sz="1050" dirty="0"/>
          </a:p>
        </p:txBody>
      </p:sp>
      <p:sp>
        <p:nvSpPr>
          <p:cNvPr id="24" name="Shape 19"/>
          <p:cNvSpPr/>
          <p:nvPr/>
        </p:nvSpPr>
        <p:spPr>
          <a:xfrm>
            <a:off x="4663440" y="2971800"/>
            <a:ext cx="4023360" cy="1463040"/>
          </a:xfrm>
          <a:prstGeom prst="roundRect">
            <a:avLst>
              <a:gd name="adj" fmla="val 5000"/>
            </a:avLst>
          </a:prstGeom>
          <a:solidFill>
            <a:srgbClr val="0F2F4F"/>
          </a:solidFill>
          <a:ln w="9525">
            <a:solidFill>
              <a:srgbClr val="24507A"/>
            </a:solidFill>
            <a:prstDash val="solid"/>
          </a:ln>
        </p:spPr>
      </p:sp>
      <p:sp>
        <p:nvSpPr>
          <p:cNvPr id="25" name="Shape 20"/>
          <p:cNvSpPr/>
          <p:nvPr/>
        </p:nvSpPr>
        <p:spPr>
          <a:xfrm>
            <a:off x="4892040" y="3200400"/>
            <a:ext cx="457200" cy="457200"/>
          </a:xfrm>
          <a:prstGeom prst="ellipse">
            <a:avLst/>
          </a:prstGeom>
          <a:solidFill>
            <a:srgbClr val="F2C12E"/>
          </a:solidFill>
          <a:ln/>
        </p:spPr>
      </p:sp>
      <p:pic>
        <p:nvPicPr>
          <p:cNvPr id="26" name="Image 3" descr="preencoded.png">    </p:cNvPr>
          <p:cNvPicPr>
            <a:picLocks noChangeAspect="1"/>
          </p:cNvPicPr>
          <p:nvPr/>
        </p:nvPicPr>
        <p:blipFill>
          <a:blip r:embed="rId5"/>
          <a:stretch>
            <a:fillRect/>
          </a:stretch>
        </p:blipFill>
        <p:spPr>
          <a:xfrm>
            <a:off x="5010912" y="3319272"/>
            <a:ext cx="219456" cy="219456"/>
          </a:xfrm>
          <a:prstGeom prst="rect">
            <a:avLst/>
          </a:prstGeom>
        </p:spPr>
      </p:pic>
      <p:sp>
        <p:nvSpPr>
          <p:cNvPr id="27" name="Text 21"/>
          <p:cNvSpPr txBox="1"/>
          <p:nvPr/>
        </p:nvSpPr>
        <p:spPr>
          <a:xfrm>
            <a:off x="5486400" y="3200400"/>
            <a:ext cx="3017520" cy="45720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Made in Brazil</a:t>
            </a:r>
            <a:endParaRPr lang="en-US" sz="1350" dirty="0"/>
          </a:p>
        </p:txBody>
      </p:sp>
      <p:sp>
        <p:nvSpPr>
          <p:cNvPr id="28" name="Text 22"/>
          <p:cNvSpPr txBox="1"/>
          <p:nvPr/>
        </p:nvSpPr>
        <p:spPr>
          <a:xfrm>
            <a:off x="4892040" y="3749040"/>
            <a:ext cx="1691640" cy="502920"/>
          </a:xfrm>
          <a:prstGeom prst="rect">
            <a:avLst/>
          </a:prstGeom>
          <a:noFill/>
          <a:ln/>
        </p:spPr>
        <p:txBody>
          <a:bodyPr wrap="square" lIns="0" tIns="0" rIns="0" bIns="0" rtlCol="0" anchor="ctr"/>
          <a:lstStyle/>
          <a:p>
            <a:pPr indent="0" marL="0">
              <a:buNone/>
            </a:pPr>
            <a:r>
              <a:rPr lang="en-US" sz="1600" b="1" dirty="0">
                <a:solidFill>
                  <a:srgbClr val="F2C12E"/>
                </a:solidFill>
                <a:latin typeface="Arial" pitchFamily="34" charset="0"/>
                <a:ea typeface="Arial" pitchFamily="34" charset="-122"/>
                <a:cs typeface="Arial" pitchFamily="34" charset="-120"/>
              </a:rPr>
              <a:t>600 / year</a:t>
            </a:r>
            <a:endParaRPr lang="en-US" sz="1600" dirty="0"/>
          </a:p>
        </p:txBody>
      </p:sp>
      <p:sp>
        <p:nvSpPr>
          <p:cNvPr id="29" name="Text 23"/>
          <p:cNvSpPr txBox="1"/>
          <p:nvPr/>
        </p:nvSpPr>
        <p:spPr>
          <a:xfrm>
            <a:off x="6629400" y="3721608"/>
            <a:ext cx="1874520" cy="594360"/>
          </a:xfrm>
          <a:prstGeom prst="rect">
            <a:avLst/>
          </a:prstGeom>
          <a:noFill/>
          <a:ln/>
        </p:spPr>
        <p:txBody>
          <a:bodyPr wrap="square" lIns="0" tIns="0" rIns="0" bIns="0" rtlCol="0" anchor="ctr"/>
          <a:lstStyle/>
          <a:p>
            <a:pPr indent="0" marL="0">
              <a:buNone/>
            </a:pPr>
            <a:r>
              <a:rPr lang="en-US" sz="1050" dirty="0">
                <a:solidFill>
                  <a:srgbClr val="9FB3C8"/>
                </a:solidFill>
                <a:latin typeface="Calibri" pitchFamily="34" charset="0"/>
                <a:ea typeface="Calibri" pitchFamily="34" charset="-122"/>
                <a:cs typeface="Calibri" pitchFamily="34" charset="-120"/>
              </a:rPr>
              <a:t>Planned capacity at CIMATEC PARK, Camaçari, Bahia</a:t>
            </a:r>
            <a:endParaRPr lang="en-US" sz="1050" dirty="0"/>
          </a:p>
        </p:txBody>
      </p:sp>
    </p:spTree>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92608"/>
            <a:ext cx="6400800" cy="228600"/>
          </a:xfrm>
          <a:prstGeom prst="rect">
            <a:avLst/>
          </a:prstGeom>
          <a:noFill/>
          <a:ln/>
        </p:spPr>
        <p:txBody>
          <a:bodyPr wrap="square" lIns="0" tIns="0" rIns="0" bIns="0" rtlCol="0" anchor="ctr"/>
          <a:lstStyle/>
          <a:p>
            <a:pPr indent="0" marL="0">
              <a:buNone/>
            </a:pPr>
            <a:r>
              <a:rPr lang="en-US" sz="1000" b="1" spc="300" kern="0" dirty="0">
                <a:solidFill>
                  <a:srgbClr val="17B584"/>
                </a:solidFill>
                <a:latin typeface="Calibri" pitchFamily="34" charset="0"/>
                <a:ea typeface="Calibri" pitchFamily="34" charset="-122"/>
                <a:cs typeface="Calibri" pitchFamily="34" charset="-120"/>
              </a:rPr>
              <a:t>VESSEL POSITIONING</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Positioning Brazil's deepwater fleet</a:t>
            </a:r>
            <a:endParaRPr lang="en-US" sz="2400" dirty="0"/>
          </a:p>
        </p:txBody>
      </p:sp>
      <p:sp>
        <p:nvSpPr>
          <p:cNvPr id="4" name="Text 2"/>
          <p:cNvSpPr txBox="1"/>
          <p:nvPr/>
        </p:nvSpPr>
        <p:spPr>
          <a:xfrm>
            <a:off x="457200" y="4754880"/>
            <a:ext cx="2743200" cy="201168"/>
          </a:xfrm>
          <a:prstGeom prst="rect">
            <a:avLst/>
          </a:prstGeom>
          <a:noFill/>
          <a:ln/>
        </p:spPr>
        <p:txBody>
          <a:bodyPr wrap="square" lIns="0" tIns="0" rIns="0" bIns="0" rtlCol="0" anchor="ctr"/>
          <a:lstStyle/>
          <a:p>
            <a:pPr indent="0" marL="0">
              <a:buNone/>
            </a:pPr>
            <a:r>
              <a:rPr lang="en-US" sz="900" dirty="0">
                <a:solidFill>
                  <a:srgbClr val="6F87A0"/>
                </a:solidFill>
                <a:latin typeface="Calibri" pitchFamily="34" charset="0"/>
                <a:ea typeface="Calibri" pitchFamily="34" charset="-122"/>
                <a:cs typeface="Calibri" pitchFamily="34" charset="-120"/>
              </a:rPr>
              <a:t>Sonardyne in Brazil</a:t>
            </a:r>
            <a:endParaRPr lang="en-US" sz="900" dirty="0"/>
          </a:p>
        </p:txBody>
      </p:sp>
      <p:sp>
        <p:nvSpPr>
          <p:cNvPr id="5" name="Text 3"/>
          <p:cNvSpPr txBox="1"/>
          <p:nvPr/>
        </p:nvSpPr>
        <p:spPr>
          <a:xfrm>
            <a:off x="7772400" y="4754880"/>
            <a:ext cx="914400" cy="201168"/>
          </a:xfrm>
          <a:prstGeom prst="rect">
            <a:avLst/>
          </a:prstGeom>
          <a:noFill/>
          <a:ln/>
        </p:spPr>
        <p:txBody>
          <a:bodyPr wrap="square" lIns="0" tIns="0" rIns="0" bIns="0" rtlCol="0" anchor="ctr"/>
          <a:lstStyle/>
          <a:p>
            <a:pPr algn="r" indent="0" marL="0">
              <a:buNone/>
            </a:pPr>
            <a:r>
              <a:rPr lang="en-US" sz="900" dirty="0">
                <a:solidFill>
                  <a:srgbClr val="6F87A0"/>
                </a:solidFill>
                <a:latin typeface="Calibri" pitchFamily="34" charset="0"/>
                <a:ea typeface="Calibri" pitchFamily="34" charset="-122"/>
                <a:cs typeface="Calibri" pitchFamily="34" charset="-120"/>
              </a:rPr>
              <a:t>09 / 12</a:t>
            </a:r>
            <a:endParaRPr lang="en-US" sz="900" dirty="0"/>
          </a:p>
        </p:txBody>
      </p:sp>
      <p:sp>
        <p:nvSpPr>
          <p:cNvPr id="6" name="Shape 4"/>
          <p:cNvSpPr/>
          <p:nvPr/>
        </p:nvSpPr>
        <p:spPr>
          <a:xfrm>
            <a:off x="457200" y="1325880"/>
            <a:ext cx="2560320" cy="1463040"/>
          </a:xfrm>
          <a:prstGeom prst="roundRect">
            <a:avLst>
              <a:gd name="adj" fmla="val 5000"/>
            </a:avLst>
          </a:prstGeom>
          <a:solidFill>
            <a:srgbClr val="0F2F4F"/>
          </a:solidFill>
          <a:ln w="9525">
            <a:solidFill>
              <a:srgbClr val="24507A"/>
            </a:solidFill>
            <a:prstDash val="solid"/>
          </a:ln>
        </p:spPr>
      </p:sp>
      <p:sp>
        <p:nvSpPr>
          <p:cNvPr id="7" name="Shape 5"/>
          <p:cNvSpPr/>
          <p:nvPr/>
        </p:nvSpPr>
        <p:spPr>
          <a:xfrm>
            <a:off x="640080" y="1508760"/>
            <a:ext cx="384048" cy="384048"/>
          </a:xfrm>
          <a:prstGeom prst="ellipse">
            <a:avLst/>
          </a:prstGeom>
          <a:solidFill>
            <a:srgbClr val="0E8A5F"/>
          </a:solidFill>
          <a:ln/>
        </p:spPr>
      </p:sp>
      <p:pic>
        <p:nvPicPr>
          <p:cNvPr id="8" name="Image 0" descr="preencoded.png">    </p:cNvPr>
          <p:cNvPicPr>
            <a:picLocks noChangeAspect="1"/>
          </p:cNvPicPr>
          <p:nvPr/>
        </p:nvPicPr>
        <p:blipFill>
          <a:blip r:embed="rId2"/>
          <a:stretch>
            <a:fillRect/>
          </a:stretch>
        </p:blipFill>
        <p:spPr>
          <a:xfrm>
            <a:off x="739932" y="1608612"/>
            <a:ext cx="184343" cy="184343"/>
          </a:xfrm>
          <a:prstGeom prst="rect">
            <a:avLst/>
          </a:prstGeom>
        </p:spPr>
      </p:pic>
      <p:sp>
        <p:nvSpPr>
          <p:cNvPr id="9" name="Text 6"/>
          <p:cNvSpPr txBox="1"/>
          <p:nvPr/>
        </p:nvSpPr>
        <p:spPr>
          <a:xfrm>
            <a:off x="1115568" y="1508760"/>
            <a:ext cx="1783080" cy="38404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Ranger 2 USBL</a:t>
            </a:r>
            <a:endParaRPr lang="en-US" sz="1250" dirty="0"/>
          </a:p>
        </p:txBody>
      </p:sp>
      <p:sp>
        <p:nvSpPr>
          <p:cNvPr id="10" name="Text 7"/>
          <p:cNvSpPr txBox="1"/>
          <p:nvPr/>
        </p:nvSpPr>
        <p:spPr>
          <a:xfrm>
            <a:off x="640080" y="1984248"/>
            <a:ext cx="2194560" cy="228600"/>
          </a:xfrm>
          <a:prstGeom prst="rect">
            <a:avLst/>
          </a:prstGeom>
          <a:noFill/>
          <a:ln/>
        </p:spPr>
        <p:txBody>
          <a:bodyPr wrap="square" lIns="0" tIns="0" rIns="0" bIns="0" rtlCol="0" anchor="ctr"/>
          <a:lstStyle/>
          <a:p>
            <a:pPr indent="0" marL="0">
              <a:buNone/>
            </a:pPr>
            <a:r>
              <a:rPr lang="en-US" sz="1000" b="1" dirty="0">
                <a:solidFill>
                  <a:srgbClr val="F2C12E"/>
                </a:solidFill>
                <a:latin typeface="Calibri" pitchFamily="34" charset="0"/>
                <a:ea typeface="Calibri" pitchFamily="34" charset="-122"/>
                <a:cs typeface="Calibri" pitchFamily="34" charset="-120"/>
              </a:rPr>
              <a:t>C-Innovation, Fugro, OceanPact</a:t>
            </a:r>
            <a:endParaRPr lang="en-US" sz="1000" dirty="0"/>
          </a:p>
        </p:txBody>
      </p:sp>
      <p:sp>
        <p:nvSpPr>
          <p:cNvPr id="11" name="Text 8"/>
          <p:cNvSpPr txBox="1"/>
          <p:nvPr/>
        </p:nvSpPr>
        <p:spPr>
          <a:xfrm>
            <a:off x="640080" y="2221992"/>
            <a:ext cx="2194560" cy="502920"/>
          </a:xfrm>
          <a:prstGeom prst="rect">
            <a:avLst/>
          </a:prstGeom>
          <a:noFill/>
          <a:ln/>
        </p:spPr>
        <p:txBody>
          <a:bodyPr wrap="square" lIns="0" tIns="0" rIns="0" bIns="0" rtlCol="0" anchor="t"/>
          <a:lstStyle/>
          <a:p>
            <a:pPr indent="0" marL="0">
              <a:buNone/>
            </a:pPr>
            <a:r>
              <a:rPr lang="en-US" sz="1000" dirty="0">
                <a:solidFill>
                  <a:srgbClr val="9FB3C8"/>
                </a:solidFill>
                <a:latin typeface="Calibri" pitchFamily="34" charset="0"/>
                <a:ea typeface="Calibri" pitchFamily="34" charset="-122"/>
                <a:cs typeface="Calibri" pitchFamily="34" charset="-120"/>
              </a:rPr>
              <a:t>Tracks ROVs, corers and towed sensors; DP reference</a:t>
            </a:r>
            <a:endParaRPr lang="en-US" sz="1000" dirty="0"/>
          </a:p>
        </p:txBody>
      </p:sp>
      <p:sp>
        <p:nvSpPr>
          <p:cNvPr id="12" name="Shape 9"/>
          <p:cNvSpPr/>
          <p:nvPr/>
        </p:nvSpPr>
        <p:spPr>
          <a:xfrm>
            <a:off x="3154680" y="1325880"/>
            <a:ext cx="2560320" cy="1463040"/>
          </a:xfrm>
          <a:prstGeom prst="roundRect">
            <a:avLst>
              <a:gd name="adj" fmla="val 5000"/>
            </a:avLst>
          </a:prstGeom>
          <a:solidFill>
            <a:srgbClr val="0F2F4F"/>
          </a:solidFill>
          <a:ln w="9525">
            <a:solidFill>
              <a:srgbClr val="24507A"/>
            </a:solidFill>
            <a:prstDash val="solid"/>
          </a:ln>
        </p:spPr>
      </p:sp>
      <p:sp>
        <p:nvSpPr>
          <p:cNvPr id="13" name="Shape 10"/>
          <p:cNvSpPr/>
          <p:nvPr/>
        </p:nvSpPr>
        <p:spPr>
          <a:xfrm>
            <a:off x="3337560" y="1508760"/>
            <a:ext cx="384048" cy="384048"/>
          </a:xfrm>
          <a:prstGeom prst="ellipse">
            <a:avLst/>
          </a:prstGeom>
          <a:solidFill>
            <a:srgbClr val="0E8A5F"/>
          </a:solidFill>
          <a:ln/>
        </p:spPr>
      </p:sp>
      <p:pic>
        <p:nvPicPr>
          <p:cNvPr id="14" name="Image 1" descr="preencoded.png">    </p:cNvPr>
          <p:cNvPicPr>
            <a:picLocks noChangeAspect="1"/>
          </p:cNvPicPr>
          <p:nvPr/>
        </p:nvPicPr>
        <p:blipFill>
          <a:blip r:embed="rId3"/>
          <a:stretch>
            <a:fillRect/>
          </a:stretch>
        </p:blipFill>
        <p:spPr>
          <a:xfrm>
            <a:off x="3437412" y="1608612"/>
            <a:ext cx="184343" cy="184343"/>
          </a:xfrm>
          <a:prstGeom prst="rect">
            <a:avLst/>
          </a:prstGeom>
        </p:spPr>
      </p:pic>
      <p:sp>
        <p:nvSpPr>
          <p:cNvPr id="15" name="Text 11"/>
          <p:cNvSpPr txBox="1"/>
          <p:nvPr/>
        </p:nvSpPr>
        <p:spPr>
          <a:xfrm>
            <a:off x="3813048" y="1508760"/>
            <a:ext cx="1783080" cy="38404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GyroUSBL 7000</a:t>
            </a:r>
            <a:endParaRPr lang="en-US" sz="1250" dirty="0"/>
          </a:p>
        </p:txBody>
      </p:sp>
      <p:sp>
        <p:nvSpPr>
          <p:cNvPr id="16" name="Text 12"/>
          <p:cNvSpPr txBox="1"/>
          <p:nvPr/>
        </p:nvSpPr>
        <p:spPr>
          <a:xfrm>
            <a:off x="3337560" y="1984248"/>
            <a:ext cx="2194560" cy="228600"/>
          </a:xfrm>
          <a:prstGeom prst="rect">
            <a:avLst/>
          </a:prstGeom>
          <a:noFill/>
          <a:ln/>
        </p:spPr>
        <p:txBody>
          <a:bodyPr wrap="square" lIns="0" tIns="0" rIns="0" bIns="0" rtlCol="0" anchor="ctr"/>
          <a:lstStyle/>
          <a:p>
            <a:pPr indent="0" marL="0">
              <a:buNone/>
            </a:pPr>
            <a:r>
              <a:rPr lang="en-US" sz="1000" b="1" dirty="0">
                <a:solidFill>
                  <a:srgbClr val="F2C12E"/>
                </a:solidFill>
                <a:latin typeface="Calibri" pitchFamily="34" charset="0"/>
                <a:ea typeface="Calibri" pitchFamily="34" charset="-122"/>
                <a:cs typeface="Calibri" pitchFamily="34" charset="-120"/>
              </a:rPr>
              <a:t>Fugro Aquarius</a:t>
            </a:r>
            <a:endParaRPr lang="en-US" sz="1000" dirty="0"/>
          </a:p>
        </p:txBody>
      </p:sp>
      <p:sp>
        <p:nvSpPr>
          <p:cNvPr id="17" name="Text 13"/>
          <p:cNvSpPr txBox="1"/>
          <p:nvPr/>
        </p:nvSpPr>
        <p:spPr>
          <a:xfrm>
            <a:off x="3337560" y="2221992"/>
            <a:ext cx="2194560" cy="502920"/>
          </a:xfrm>
          <a:prstGeom prst="rect">
            <a:avLst/>
          </a:prstGeom>
          <a:noFill/>
          <a:ln/>
        </p:spPr>
        <p:txBody>
          <a:bodyPr wrap="square" lIns="0" tIns="0" rIns="0" bIns="0" rtlCol="0" anchor="t"/>
          <a:lstStyle/>
          <a:p>
            <a:pPr indent="0" marL="0">
              <a:buNone/>
            </a:pPr>
            <a:r>
              <a:rPr lang="en-US" sz="1000" dirty="0">
                <a:solidFill>
                  <a:srgbClr val="9FB3C8"/>
                </a:solidFill>
                <a:latin typeface="Calibri" pitchFamily="34" charset="0"/>
                <a:ea typeface="Calibri" pitchFamily="34" charset="-122"/>
                <a:cs typeface="Calibri" pitchFamily="34" charset="-120"/>
              </a:rPr>
              <a:t>Transceiver + survey-grade INS in one unit, to 3,000 m</a:t>
            </a:r>
            <a:endParaRPr lang="en-US" sz="1000" dirty="0"/>
          </a:p>
        </p:txBody>
      </p:sp>
      <p:sp>
        <p:nvSpPr>
          <p:cNvPr id="18" name="Shape 14"/>
          <p:cNvSpPr/>
          <p:nvPr/>
        </p:nvSpPr>
        <p:spPr>
          <a:xfrm>
            <a:off x="457200" y="2953512"/>
            <a:ext cx="2560320" cy="1463040"/>
          </a:xfrm>
          <a:prstGeom prst="roundRect">
            <a:avLst>
              <a:gd name="adj" fmla="val 5000"/>
            </a:avLst>
          </a:prstGeom>
          <a:solidFill>
            <a:srgbClr val="0F2F4F"/>
          </a:solidFill>
          <a:ln w="9525">
            <a:solidFill>
              <a:srgbClr val="24507A"/>
            </a:solidFill>
            <a:prstDash val="solid"/>
          </a:ln>
        </p:spPr>
      </p:sp>
      <p:sp>
        <p:nvSpPr>
          <p:cNvPr id="19" name="Shape 15"/>
          <p:cNvSpPr/>
          <p:nvPr/>
        </p:nvSpPr>
        <p:spPr>
          <a:xfrm>
            <a:off x="640080" y="3136392"/>
            <a:ext cx="384048" cy="384048"/>
          </a:xfrm>
          <a:prstGeom prst="ellipse">
            <a:avLst/>
          </a:prstGeom>
          <a:solidFill>
            <a:srgbClr val="0E8A5F"/>
          </a:solidFill>
          <a:ln/>
        </p:spPr>
      </p:sp>
      <p:pic>
        <p:nvPicPr>
          <p:cNvPr id="20" name="Image 2" descr="preencoded.png">    </p:cNvPr>
          <p:cNvPicPr>
            <a:picLocks noChangeAspect="1"/>
          </p:cNvPicPr>
          <p:nvPr/>
        </p:nvPicPr>
        <p:blipFill>
          <a:blip r:embed="rId4"/>
          <a:stretch>
            <a:fillRect/>
          </a:stretch>
        </p:blipFill>
        <p:spPr>
          <a:xfrm>
            <a:off x="739932" y="3236244"/>
            <a:ext cx="184343" cy="184343"/>
          </a:xfrm>
          <a:prstGeom prst="rect">
            <a:avLst/>
          </a:prstGeom>
        </p:spPr>
      </p:pic>
      <p:sp>
        <p:nvSpPr>
          <p:cNvPr id="21" name="Text 16"/>
          <p:cNvSpPr txBox="1"/>
          <p:nvPr/>
        </p:nvSpPr>
        <p:spPr>
          <a:xfrm>
            <a:off x="1115568" y="3136392"/>
            <a:ext cx="1783080" cy="38404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SPRINT-Nav</a:t>
            </a:r>
            <a:endParaRPr lang="en-US" sz="1250" dirty="0"/>
          </a:p>
        </p:txBody>
      </p:sp>
      <p:sp>
        <p:nvSpPr>
          <p:cNvPr id="22" name="Text 17"/>
          <p:cNvSpPr txBox="1"/>
          <p:nvPr/>
        </p:nvSpPr>
        <p:spPr>
          <a:xfrm>
            <a:off x="640080" y="3611880"/>
            <a:ext cx="2194560" cy="228600"/>
          </a:xfrm>
          <a:prstGeom prst="rect">
            <a:avLst/>
          </a:prstGeom>
          <a:noFill/>
          <a:ln/>
        </p:spPr>
        <p:txBody>
          <a:bodyPr wrap="square" lIns="0" tIns="0" rIns="0" bIns="0" rtlCol="0" anchor="ctr"/>
          <a:lstStyle/>
          <a:p>
            <a:pPr indent="0" marL="0">
              <a:buNone/>
            </a:pPr>
            <a:r>
              <a:rPr lang="en-US" sz="1000" b="1" dirty="0">
                <a:solidFill>
                  <a:srgbClr val="F2C12E"/>
                </a:solidFill>
                <a:latin typeface="Calibri" pitchFamily="34" charset="0"/>
                <a:ea typeface="Calibri" pitchFamily="34" charset="-122"/>
                <a:cs typeface="Calibri" pitchFamily="34" charset="-120"/>
              </a:rPr>
              <a:t>C-Innovation</a:t>
            </a:r>
            <a:endParaRPr lang="en-US" sz="1000" dirty="0"/>
          </a:p>
        </p:txBody>
      </p:sp>
      <p:sp>
        <p:nvSpPr>
          <p:cNvPr id="23" name="Text 18"/>
          <p:cNvSpPr txBox="1"/>
          <p:nvPr/>
        </p:nvSpPr>
        <p:spPr>
          <a:xfrm>
            <a:off x="640080" y="3849624"/>
            <a:ext cx="2194560" cy="502920"/>
          </a:xfrm>
          <a:prstGeom prst="rect">
            <a:avLst/>
          </a:prstGeom>
          <a:noFill/>
          <a:ln/>
        </p:spPr>
        <p:txBody>
          <a:bodyPr wrap="square" lIns="0" tIns="0" rIns="0" bIns="0" rtlCol="0" anchor="t"/>
          <a:lstStyle/>
          <a:p>
            <a:pPr indent="0" marL="0">
              <a:buNone/>
            </a:pPr>
            <a:r>
              <a:rPr lang="en-US" sz="1000" dirty="0">
                <a:solidFill>
                  <a:srgbClr val="9FB3C8"/>
                </a:solidFill>
                <a:latin typeface="Calibri" pitchFamily="34" charset="0"/>
                <a:ea typeface="Calibri" pitchFamily="34" charset="-122"/>
                <a:cs typeface="Calibri" pitchFamily="34" charset="-120"/>
              </a:rPr>
              <a:t>Pre-calibrated INS, DVL and depth; cuts ROV set-up time</a:t>
            </a:r>
            <a:endParaRPr lang="en-US" sz="1000" dirty="0"/>
          </a:p>
        </p:txBody>
      </p:sp>
      <p:sp>
        <p:nvSpPr>
          <p:cNvPr id="24" name="Shape 19"/>
          <p:cNvSpPr/>
          <p:nvPr/>
        </p:nvSpPr>
        <p:spPr>
          <a:xfrm>
            <a:off x="3154680" y="2953512"/>
            <a:ext cx="2560320" cy="1463040"/>
          </a:xfrm>
          <a:prstGeom prst="roundRect">
            <a:avLst>
              <a:gd name="adj" fmla="val 5000"/>
            </a:avLst>
          </a:prstGeom>
          <a:solidFill>
            <a:srgbClr val="0F2F4F"/>
          </a:solidFill>
          <a:ln w="9525">
            <a:solidFill>
              <a:srgbClr val="24507A"/>
            </a:solidFill>
            <a:prstDash val="solid"/>
          </a:ln>
        </p:spPr>
      </p:sp>
      <p:sp>
        <p:nvSpPr>
          <p:cNvPr id="25" name="Shape 20"/>
          <p:cNvSpPr/>
          <p:nvPr/>
        </p:nvSpPr>
        <p:spPr>
          <a:xfrm>
            <a:off x="3337560" y="3136392"/>
            <a:ext cx="384048" cy="384048"/>
          </a:xfrm>
          <a:prstGeom prst="ellipse">
            <a:avLst/>
          </a:prstGeom>
          <a:solidFill>
            <a:srgbClr val="0E8A5F"/>
          </a:solidFill>
          <a:ln/>
        </p:spPr>
      </p:sp>
      <p:pic>
        <p:nvPicPr>
          <p:cNvPr id="26" name="Image 3" descr="preencoded.png">    </p:cNvPr>
          <p:cNvPicPr>
            <a:picLocks noChangeAspect="1"/>
          </p:cNvPicPr>
          <p:nvPr/>
        </p:nvPicPr>
        <p:blipFill>
          <a:blip r:embed="rId5"/>
          <a:stretch>
            <a:fillRect/>
          </a:stretch>
        </p:blipFill>
        <p:spPr>
          <a:xfrm>
            <a:off x="3437412" y="3236244"/>
            <a:ext cx="184343" cy="184343"/>
          </a:xfrm>
          <a:prstGeom prst="rect">
            <a:avLst/>
          </a:prstGeom>
        </p:spPr>
      </p:pic>
      <p:sp>
        <p:nvSpPr>
          <p:cNvPr id="27" name="Text 21"/>
          <p:cNvSpPr txBox="1"/>
          <p:nvPr/>
        </p:nvSpPr>
        <p:spPr>
          <a:xfrm>
            <a:off x="3813048" y="3136392"/>
            <a:ext cx="1783080" cy="38404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Fusion 2 LBL</a:t>
            </a:r>
            <a:endParaRPr lang="en-US" sz="1250" dirty="0"/>
          </a:p>
        </p:txBody>
      </p:sp>
      <p:sp>
        <p:nvSpPr>
          <p:cNvPr id="28" name="Text 22"/>
          <p:cNvSpPr txBox="1"/>
          <p:nvPr/>
        </p:nvSpPr>
        <p:spPr>
          <a:xfrm>
            <a:off x="3337560" y="3611880"/>
            <a:ext cx="2194560" cy="228600"/>
          </a:xfrm>
          <a:prstGeom prst="rect">
            <a:avLst/>
          </a:prstGeom>
          <a:noFill/>
          <a:ln/>
        </p:spPr>
        <p:txBody>
          <a:bodyPr wrap="square" lIns="0" tIns="0" rIns="0" bIns="0" rtlCol="0" anchor="ctr"/>
          <a:lstStyle/>
          <a:p>
            <a:pPr indent="0" marL="0">
              <a:buNone/>
            </a:pPr>
            <a:r>
              <a:rPr lang="en-US" sz="1000" b="1" dirty="0">
                <a:solidFill>
                  <a:srgbClr val="F2C12E"/>
                </a:solidFill>
                <a:latin typeface="Calibri" pitchFamily="34" charset="0"/>
                <a:ea typeface="Calibri" pitchFamily="34" charset="-122"/>
                <a:cs typeface="Calibri" pitchFamily="34" charset="-120"/>
              </a:rPr>
              <a:t>C-Innovation</a:t>
            </a:r>
            <a:endParaRPr lang="en-US" sz="1000" dirty="0"/>
          </a:p>
        </p:txBody>
      </p:sp>
      <p:sp>
        <p:nvSpPr>
          <p:cNvPr id="29" name="Text 23"/>
          <p:cNvSpPr txBox="1"/>
          <p:nvPr/>
        </p:nvSpPr>
        <p:spPr>
          <a:xfrm>
            <a:off x="3337560" y="3849624"/>
            <a:ext cx="2194560" cy="502920"/>
          </a:xfrm>
          <a:prstGeom prst="rect">
            <a:avLst/>
          </a:prstGeom>
          <a:noFill/>
          <a:ln/>
        </p:spPr>
        <p:txBody>
          <a:bodyPr wrap="square" lIns="0" tIns="0" rIns="0" bIns="0" rtlCol="0" anchor="t"/>
          <a:lstStyle/>
          <a:p>
            <a:pPr indent="0" marL="0">
              <a:buNone/>
            </a:pPr>
            <a:r>
              <a:rPr lang="en-US" sz="1000" dirty="0">
                <a:solidFill>
                  <a:srgbClr val="9FB3C8"/>
                </a:solidFill>
                <a:latin typeface="Calibri" pitchFamily="34" charset="0"/>
                <a:ea typeface="Calibri" pitchFamily="34" charset="-122"/>
                <a:cs typeface="Calibri" pitchFamily="34" charset="-120"/>
              </a:rPr>
              <a:t>Real-time SLAM calibration; fewer Compatts to deploy</a:t>
            </a:r>
            <a:endParaRPr lang="en-US" sz="1000" dirty="0"/>
          </a:p>
        </p:txBody>
      </p:sp>
      <p:sp>
        <p:nvSpPr>
          <p:cNvPr id="30" name="Shape 24"/>
          <p:cNvSpPr/>
          <p:nvPr/>
        </p:nvSpPr>
        <p:spPr>
          <a:xfrm>
            <a:off x="5943600" y="1325880"/>
            <a:ext cx="2743200" cy="3090672"/>
          </a:xfrm>
          <a:prstGeom prst="roundRect">
            <a:avLst>
              <a:gd name="adj" fmla="val 2667"/>
            </a:avLst>
          </a:prstGeom>
          <a:solidFill>
            <a:srgbClr val="0E8A5F"/>
          </a:solidFill>
          <a:ln/>
        </p:spPr>
      </p:sp>
      <p:sp>
        <p:nvSpPr>
          <p:cNvPr id="31" name="Text 25"/>
          <p:cNvSpPr txBox="1"/>
          <p:nvPr/>
        </p:nvSpPr>
        <p:spPr>
          <a:xfrm>
            <a:off x="6172200" y="1508760"/>
            <a:ext cx="2286000" cy="228600"/>
          </a:xfrm>
          <a:prstGeom prst="rect">
            <a:avLst/>
          </a:prstGeom>
          <a:noFill/>
          <a:ln/>
        </p:spPr>
        <p:txBody>
          <a:bodyPr wrap="square" lIns="0" tIns="0" rIns="0" bIns="0" rtlCol="0" anchor="ctr"/>
          <a:lstStyle/>
          <a:p>
            <a:pPr indent="0" marL="0">
              <a:buNone/>
            </a:pPr>
            <a:r>
              <a:rPr lang="en-US" sz="1000" b="1" spc="300" kern="0" dirty="0">
                <a:solidFill>
                  <a:srgbClr val="CFF5E6"/>
                </a:solidFill>
                <a:latin typeface="Calibri" pitchFamily="34" charset="0"/>
                <a:ea typeface="Calibri" pitchFamily="34" charset="-122"/>
                <a:cs typeface="Calibri" pitchFamily="34" charset="-120"/>
              </a:rPr>
              <a:t>THE BENCHMARK</a:t>
            </a:r>
            <a:endParaRPr lang="en-US" sz="1000" dirty="0"/>
          </a:p>
        </p:txBody>
      </p:sp>
      <p:sp>
        <p:nvSpPr>
          <p:cNvPr id="32" name="Text 26"/>
          <p:cNvSpPr txBox="1"/>
          <p:nvPr/>
        </p:nvSpPr>
        <p:spPr>
          <a:xfrm>
            <a:off x="6172200" y="1828800"/>
            <a:ext cx="2286000" cy="822960"/>
          </a:xfrm>
          <a:prstGeom prst="rect">
            <a:avLst/>
          </a:prstGeom>
          <a:noFill/>
          <a:ln/>
        </p:spPr>
        <p:txBody>
          <a:bodyPr wrap="square" lIns="0" tIns="0" rIns="0" bIns="0" rtlCol="0" anchor="ctr"/>
          <a:lstStyle/>
          <a:p>
            <a:pPr indent="0" marL="0">
              <a:buNone/>
            </a:pPr>
            <a:r>
              <a:rPr lang="en-US" sz="4800" b="1" dirty="0">
                <a:solidFill>
                  <a:srgbClr val="FFFFFF"/>
                </a:solidFill>
                <a:latin typeface="Arial" pitchFamily="34" charset="0"/>
                <a:ea typeface="Arial" pitchFamily="34" charset="-122"/>
                <a:cs typeface="Arial" pitchFamily="34" charset="-120"/>
              </a:rPr>
              <a:t>&lt; 5 m</a:t>
            </a:r>
            <a:endParaRPr lang="en-US" sz="4800" dirty="0"/>
          </a:p>
        </p:txBody>
      </p:sp>
      <p:sp>
        <p:nvSpPr>
          <p:cNvPr id="33" name="Text 27"/>
          <p:cNvSpPr txBox="1"/>
          <p:nvPr/>
        </p:nvSpPr>
        <p:spPr>
          <a:xfrm>
            <a:off x="6172200" y="2651760"/>
            <a:ext cx="22860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error at 1,000 m water depth</a:t>
            </a:r>
            <a:endParaRPr lang="en-US" sz="1300" dirty="0"/>
          </a:p>
        </p:txBody>
      </p:sp>
      <p:sp>
        <p:nvSpPr>
          <p:cNvPr id="34" name="Text 28"/>
          <p:cNvSpPr txBox="1"/>
          <p:nvPr/>
        </p:nvSpPr>
        <p:spPr>
          <a:xfrm>
            <a:off x="6172200" y="3108960"/>
            <a:ext cx="2286000" cy="914400"/>
          </a:xfrm>
          <a:prstGeom prst="rect">
            <a:avLst/>
          </a:prstGeom>
          <a:noFill/>
          <a:ln/>
        </p:spPr>
        <p:txBody>
          <a:bodyPr wrap="square" lIns="0" tIns="0" rIns="0" bIns="0" rtlCol="0" anchor="t"/>
          <a:lstStyle/>
          <a:p>
            <a:pPr indent="0" marL="0">
              <a:buNone/>
            </a:pPr>
            <a:r>
              <a:rPr lang="en-US" sz="1150" dirty="0">
                <a:solidFill>
                  <a:srgbClr val="E4F7EF"/>
                </a:solidFill>
                <a:latin typeface="Calibri" pitchFamily="34" charset="0"/>
                <a:ea typeface="Calibri" pitchFamily="34" charset="-122"/>
                <a:cs typeface="Calibri" pitchFamily="34" charset="-120"/>
              </a:rPr>
              <a:t>95% of positions within 0.5% of water depth, while the vessel is moving</a:t>
            </a:r>
            <a:endParaRPr lang="en-US" sz="1150" dirty="0"/>
          </a:p>
        </p:txBody>
      </p:sp>
    </p:spTree>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92608"/>
            <a:ext cx="6400800" cy="228600"/>
          </a:xfrm>
          <a:prstGeom prst="rect">
            <a:avLst/>
          </a:prstGeom>
          <a:noFill/>
          <a:ln/>
        </p:spPr>
        <p:txBody>
          <a:bodyPr wrap="square" lIns="0" tIns="0" rIns="0" bIns="0" rtlCol="0" anchor="ctr"/>
          <a:lstStyle/>
          <a:p>
            <a:pPr indent="0" marL="0">
              <a:buNone/>
            </a:pPr>
            <a:r>
              <a:rPr lang="en-US" sz="1000" b="1" spc="300" kern="0" dirty="0">
                <a:solidFill>
                  <a:srgbClr val="17B584"/>
                </a:solidFill>
                <a:latin typeface="Calibri" pitchFamily="34" charset="0"/>
                <a:ea typeface="Calibri" pitchFamily="34" charset="-122"/>
                <a:cs typeface="Calibri" pitchFamily="34" charset="-120"/>
              </a:rPr>
              <a:t>ROADMAP</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What comes next</a:t>
            </a:r>
            <a:endParaRPr lang="en-US" sz="2400" dirty="0"/>
          </a:p>
        </p:txBody>
      </p:sp>
      <p:sp>
        <p:nvSpPr>
          <p:cNvPr id="4" name="Text 2"/>
          <p:cNvSpPr txBox="1"/>
          <p:nvPr/>
        </p:nvSpPr>
        <p:spPr>
          <a:xfrm>
            <a:off x="457200" y="4754880"/>
            <a:ext cx="2743200" cy="201168"/>
          </a:xfrm>
          <a:prstGeom prst="rect">
            <a:avLst/>
          </a:prstGeom>
          <a:noFill/>
          <a:ln/>
        </p:spPr>
        <p:txBody>
          <a:bodyPr wrap="square" lIns="0" tIns="0" rIns="0" bIns="0" rtlCol="0" anchor="ctr"/>
          <a:lstStyle/>
          <a:p>
            <a:pPr indent="0" marL="0">
              <a:buNone/>
            </a:pPr>
            <a:r>
              <a:rPr lang="en-US" sz="900" dirty="0">
                <a:solidFill>
                  <a:srgbClr val="6F87A0"/>
                </a:solidFill>
                <a:latin typeface="Calibri" pitchFamily="34" charset="0"/>
                <a:ea typeface="Calibri" pitchFamily="34" charset="-122"/>
                <a:cs typeface="Calibri" pitchFamily="34" charset="-120"/>
              </a:rPr>
              <a:t>Sonardyne in Brazil</a:t>
            </a:r>
            <a:endParaRPr lang="en-US" sz="900" dirty="0"/>
          </a:p>
        </p:txBody>
      </p:sp>
      <p:sp>
        <p:nvSpPr>
          <p:cNvPr id="5" name="Text 3"/>
          <p:cNvSpPr txBox="1"/>
          <p:nvPr/>
        </p:nvSpPr>
        <p:spPr>
          <a:xfrm>
            <a:off x="7772400" y="4754880"/>
            <a:ext cx="914400" cy="201168"/>
          </a:xfrm>
          <a:prstGeom prst="rect">
            <a:avLst/>
          </a:prstGeom>
          <a:noFill/>
          <a:ln/>
        </p:spPr>
        <p:txBody>
          <a:bodyPr wrap="square" lIns="0" tIns="0" rIns="0" bIns="0" rtlCol="0" anchor="ctr"/>
          <a:lstStyle/>
          <a:p>
            <a:pPr algn="r" indent="0" marL="0">
              <a:buNone/>
            </a:pPr>
            <a:r>
              <a:rPr lang="en-US" sz="900" dirty="0">
                <a:solidFill>
                  <a:srgbClr val="6F87A0"/>
                </a:solidFill>
                <a:latin typeface="Calibri" pitchFamily="34" charset="0"/>
                <a:ea typeface="Calibri" pitchFamily="34" charset="-122"/>
                <a:cs typeface="Calibri" pitchFamily="34" charset="-120"/>
              </a:rPr>
              <a:t>10 / 12</a:t>
            </a:r>
            <a:endParaRPr lang="en-US" sz="900" dirty="0"/>
          </a:p>
        </p:txBody>
      </p:sp>
      <p:sp>
        <p:nvSpPr>
          <p:cNvPr id="6" name="Shape 4"/>
          <p:cNvSpPr/>
          <p:nvPr/>
        </p:nvSpPr>
        <p:spPr>
          <a:xfrm>
            <a:off x="457200" y="1463040"/>
            <a:ext cx="1920240" cy="2971800"/>
          </a:xfrm>
          <a:prstGeom prst="roundRect">
            <a:avLst>
              <a:gd name="adj" fmla="val 3810"/>
            </a:avLst>
          </a:prstGeom>
          <a:solidFill>
            <a:srgbClr val="0F2F4F"/>
          </a:solidFill>
          <a:ln w="9525">
            <a:solidFill>
              <a:srgbClr val="24507A"/>
            </a:solidFill>
            <a:prstDash val="solid"/>
          </a:ln>
        </p:spPr>
      </p:sp>
      <p:sp>
        <p:nvSpPr>
          <p:cNvPr id="7" name="Text 5"/>
          <p:cNvSpPr txBox="1"/>
          <p:nvPr/>
        </p:nvSpPr>
        <p:spPr>
          <a:xfrm>
            <a:off x="685800" y="1691640"/>
            <a:ext cx="1463040" cy="228600"/>
          </a:xfrm>
          <a:prstGeom prst="rect">
            <a:avLst/>
          </a:prstGeom>
          <a:noFill/>
          <a:ln/>
        </p:spPr>
        <p:txBody>
          <a:bodyPr wrap="square" lIns="0" tIns="0" rIns="0" bIns="0" rtlCol="0" anchor="ctr"/>
          <a:lstStyle/>
          <a:p>
            <a:pPr indent="0" marL="0">
              <a:buNone/>
            </a:pPr>
            <a:r>
              <a:rPr lang="en-US" sz="1000" b="1" spc="300" kern="0" dirty="0">
                <a:solidFill>
                  <a:srgbClr val="17B584"/>
                </a:solidFill>
                <a:latin typeface="Calibri" pitchFamily="34" charset="0"/>
                <a:ea typeface="Calibri" pitchFamily="34" charset="-122"/>
                <a:cs typeface="Calibri" pitchFamily="34" charset="-120"/>
              </a:rPr>
              <a:t>NOW</a:t>
            </a:r>
            <a:endParaRPr lang="en-US" sz="1000" dirty="0"/>
          </a:p>
        </p:txBody>
      </p:sp>
      <p:sp>
        <p:nvSpPr>
          <p:cNvPr id="8" name="Shape 6"/>
          <p:cNvSpPr/>
          <p:nvPr/>
        </p:nvSpPr>
        <p:spPr>
          <a:xfrm>
            <a:off x="685800" y="2057400"/>
            <a:ext cx="548640" cy="548640"/>
          </a:xfrm>
          <a:prstGeom prst="ellipse">
            <a:avLst/>
          </a:prstGeom>
          <a:solidFill>
            <a:srgbClr val="0E8A5F"/>
          </a:solidFill>
          <a:ln/>
        </p:spPr>
      </p:sp>
      <p:pic>
        <p:nvPicPr>
          <p:cNvPr id="9" name="Image 0" descr="preencoded.png">    </p:cNvPr>
          <p:cNvPicPr>
            <a:picLocks noChangeAspect="1"/>
          </p:cNvPicPr>
          <p:nvPr/>
        </p:nvPicPr>
        <p:blipFill>
          <a:blip r:embed="rId2"/>
          <a:stretch>
            <a:fillRect/>
          </a:stretch>
        </p:blipFill>
        <p:spPr>
          <a:xfrm>
            <a:off x="828446" y="2200046"/>
            <a:ext cx="263347" cy="263347"/>
          </a:xfrm>
          <a:prstGeom prst="rect">
            <a:avLst/>
          </a:prstGeom>
        </p:spPr>
      </p:pic>
      <p:sp>
        <p:nvSpPr>
          <p:cNvPr id="10" name="Text 7"/>
          <p:cNvSpPr txBox="1"/>
          <p:nvPr/>
        </p:nvSpPr>
        <p:spPr>
          <a:xfrm>
            <a:off x="685800" y="2743200"/>
            <a:ext cx="1554480" cy="54864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Survey &amp; retrieve</a:t>
            </a:r>
            <a:endParaRPr lang="en-US" sz="1400" dirty="0"/>
          </a:p>
        </p:txBody>
      </p:sp>
      <p:sp>
        <p:nvSpPr>
          <p:cNvPr id="11" name="Text 8"/>
          <p:cNvSpPr txBox="1"/>
          <p:nvPr/>
        </p:nvSpPr>
        <p:spPr>
          <a:xfrm>
            <a:off x="685800" y="3337560"/>
            <a:ext cx="1508760" cy="960120"/>
          </a:xfrm>
          <a:prstGeom prst="rect">
            <a:avLst/>
          </a:prstGeom>
          <a:noFill/>
          <a:ln/>
        </p:spPr>
        <p:txBody>
          <a:bodyPr wrap="square" lIns="0" tIns="0" rIns="0" bIns="0" rtlCol="0" anchor="t"/>
          <a:lstStyle/>
          <a:p>
            <a:pPr indent="0" marL="0">
              <a:buNone/>
            </a:pPr>
            <a:r>
              <a:rPr lang="en-US" sz="1100" dirty="0">
                <a:solidFill>
                  <a:srgbClr val="9FB3C8"/>
                </a:solidFill>
                <a:latin typeface="Calibri" pitchFamily="34" charset="0"/>
                <a:ea typeface="Calibri" pitchFamily="34" charset="-122"/>
                <a:cs typeface="Calibri" pitchFamily="34" charset="-120"/>
              </a:rPr>
              <a:t>Seismic shoot over Mero, then optical data recovery from the nodes</a:t>
            </a:r>
            <a:endParaRPr lang="en-US" sz="1100" dirty="0"/>
          </a:p>
        </p:txBody>
      </p:sp>
      <p:sp>
        <p:nvSpPr>
          <p:cNvPr id="12" name="Shape 9"/>
          <p:cNvSpPr/>
          <p:nvPr/>
        </p:nvSpPr>
        <p:spPr>
          <a:xfrm>
            <a:off x="2551176" y="1463040"/>
            <a:ext cx="1920240" cy="2971800"/>
          </a:xfrm>
          <a:prstGeom prst="roundRect">
            <a:avLst>
              <a:gd name="adj" fmla="val 3810"/>
            </a:avLst>
          </a:prstGeom>
          <a:solidFill>
            <a:srgbClr val="0F2F4F"/>
          </a:solidFill>
          <a:ln w="9525">
            <a:solidFill>
              <a:srgbClr val="24507A"/>
            </a:solidFill>
            <a:prstDash val="solid"/>
          </a:ln>
        </p:spPr>
      </p:sp>
      <p:sp>
        <p:nvSpPr>
          <p:cNvPr id="13" name="Text 10"/>
          <p:cNvSpPr txBox="1"/>
          <p:nvPr/>
        </p:nvSpPr>
        <p:spPr>
          <a:xfrm>
            <a:off x="2779776" y="1691640"/>
            <a:ext cx="1463040" cy="228600"/>
          </a:xfrm>
          <a:prstGeom prst="rect">
            <a:avLst/>
          </a:prstGeom>
          <a:noFill/>
          <a:ln/>
        </p:spPr>
        <p:txBody>
          <a:bodyPr wrap="square" lIns="0" tIns="0" rIns="0" bIns="0" rtlCol="0" anchor="ctr"/>
          <a:lstStyle/>
          <a:p>
            <a:pPr indent="0" marL="0">
              <a:buNone/>
            </a:pPr>
            <a:r>
              <a:rPr lang="en-US" sz="1000" b="1" spc="300" kern="0" dirty="0">
                <a:solidFill>
                  <a:srgbClr val="17B584"/>
                </a:solidFill>
                <a:latin typeface="Calibri" pitchFamily="34" charset="0"/>
                <a:ea typeface="Calibri" pitchFamily="34" charset="-122"/>
                <a:cs typeface="Calibri" pitchFamily="34" charset="-120"/>
              </a:rPr>
              <a:t>NEXT</a:t>
            </a:r>
            <a:endParaRPr lang="en-US" sz="1000" dirty="0"/>
          </a:p>
        </p:txBody>
      </p:sp>
      <p:sp>
        <p:nvSpPr>
          <p:cNvPr id="14" name="Shape 11"/>
          <p:cNvSpPr/>
          <p:nvPr/>
        </p:nvSpPr>
        <p:spPr>
          <a:xfrm>
            <a:off x="2779776" y="2057400"/>
            <a:ext cx="548640" cy="548640"/>
          </a:xfrm>
          <a:prstGeom prst="ellipse">
            <a:avLst/>
          </a:prstGeom>
          <a:solidFill>
            <a:srgbClr val="0E8A5F"/>
          </a:solidFill>
          <a:ln/>
        </p:spPr>
      </p:sp>
      <p:pic>
        <p:nvPicPr>
          <p:cNvPr id="15" name="Image 1" descr="preencoded.png">    </p:cNvPr>
          <p:cNvPicPr>
            <a:picLocks noChangeAspect="1"/>
          </p:cNvPicPr>
          <p:nvPr/>
        </p:nvPicPr>
        <p:blipFill>
          <a:blip r:embed="rId3"/>
          <a:stretch>
            <a:fillRect/>
          </a:stretch>
        </p:blipFill>
        <p:spPr>
          <a:xfrm>
            <a:off x="2922422" y="2200046"/>
            <a:ext cx="263347" cy="263347"/>
          </a:xfrm>
          <a:prstGeom prst="rect">
            <a:avLst/>
          </a:prstGeom>
        </p:spPr>
      </p:pic>
      <p:sp>
        <p:nvSpPr>
          <p:cNvPr id="16" name="Text 12"/>
          <p:cNvSpPr txBox="1"/>
          <p:nvPr/>
        </p:nvSpPr>
        <p:spPr>
          <a:xfrm>
            <a:off x="2779776" y="2743200"/>
            <a:ext cx="1554480" cy="54864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Prove the value</a:t>
            </a:r>
            <a:endParaRPr lang="en-US" sz="1400" dirty="0"/>
          </a:p>
        </p:txBody>
      </p:sp>
      <p:sp>
        <p:nvSpPr>
          <p:cNvPr id="17" name="Text 13"/>
          <p:cNvSpPr txBox="1"/>
          <p:nvPr/>
        </p:nvSpPr>
        <p:spPr>
          <a:xfrm>
            <a:off x="2779776" y="3337560"/>
            <a:ext cx="1508760" cy="960120"/>
          </a:xfrm>
          <a:prstGeom prst="rect">
            <a:avLst/>
          </a:prstGeom>
          <a:noFill/>
          <a:ln/>
        </p:spPr>
        <p:txBody>
          <a:bodyPr wrap="square" lIns="0" tIns="0" rIns="0" bIns="0" rtlCol="0" anchor="t"/>
          <a:lstStyle/>
          <a:p>
            <a:pPr indent="0" marL="0">
              <a:buNone/>
            </a:pPr>
            <a:r>
              <a:rPr lang="en-US" sz="1100" dirty="0">
                <a:solidFill>
                  <a:srgbClr val="9FB3C8"/>
                </a:solidFill>
                <a:latin typeface="Calibri" pitchFamily="34" charset="0"/>
                <a:ea typeface="Calibri" pitchFamily="34" charset="-122"/>
                <a:cs typeface="Calibri" pitchFamily="34" charset="-120"/>
              </a:rPr>
              <a:t>4D processing and assessment of how the data supports reservoir management</a:t>
            </a:r>
            <a:endParaRPr lang="en-US" sz="1100" dirty="0"/>
          </a:p>
        </p:txBody>
      </p:sp>
      <p:sp>
        <p:nvSpPr>
          <p:cNvPr id="18" name="Shape 14"/>
          <p:cNvSpPr/>
          <p:nvPr/>
        </p:nvSpPr>
        <p:spPr>
          <a:xfrm>
            <a:off x="4645152" y="1463040"/>
            <a:ext cx="1920240" cy="2971800"/>
          </a:xfrm>
          <a:prstGeom prst="roundRect">
            <a:avLst>
              <a:gd name="adj" fmla="val 3810"/>
            </a:avLst>
          </a:prstGeom>
          <a:solidFill>
            <a:srgbClr val="0F2F4F"/>
          </a:solidFill>
          <a:ln w="9525">
            <a:solidFill>
              <a:srgbClr val="24507A"/>
            </a:solidFill>
            <a:prstDash val="solid"/>
          </a:ln>
        </p:spPr>
      </p:sp>
      <p:sp>
        <p:nvSpPr>
          <p:cNvPr id="19" name="Text 15"/>
          <p:cNvSpPr txBox="1"/>
          <p:nvPr/>
        </p:nvSpPr>
        <p:spPr>
          <a:xfrm>
            <a:off x="4873752" y="1691640"/>
            <a:ext cx="1463040" cy="228600"/>
          </a:xfrm>
          <a:prstGeom prst="rect">
            <a:avLst/>
          </a:prstGeom>
          <a:noFill/>
          <a:ln/>
        </p:spPr>
        <p:txBody>
          <a:bodyPr wrap="square" lIns="0" tIns="0" rIns="0" bIns="0" rtlCol="0" anchor="ctr"/>
          <a:lstStyle/>
          <a:p>
            <a:pPr indent="0" marL="0">
              <a:buNone/>
            </a:pPr>
            <a:r>
              <a:rPr lang="en-US" sz="1000" b="1" spc="300" kern="0" dirty="0">
                <a:solidFill>
                  <a:srgbClr val="17B584"/>
                </a:solidFill>
                <a:latin typeface="Calibri" pitchFamily="34" charset="0"/>
                <a:ea typeface="Calibri" pitchFamily="34" charset="-122"/>
                <a:cs typeface="Calibri" pitchFamily="34" charset="-120"/>
              </a:rPr>
              <a:t>2027+</a:t>
            </a:r>
            <a:endParaRPr lang="en-US" sz="1000" dirty="0"/>
          </a:p>
        </p:txBody>
      </p:sp>
      <p:sp>
        <p:nvSpPr>
          <p:cNvPr id="20" name="Shape 16"/>
          <p:cNvSpPr/>
          <p:nvPr/>
        </p:nvSpPr>
        <p:spPr>
          <a:xfrm>
            <a:off x="4873752" y="2057400"/>
            <a:ext cx="548640" cy="548640"/>
          </a:xfrm>
          <a:prstGeom prst="ellipse">
            <a:avLst/>
          </a:prstGeom>
          <a:solidFill>
            <a:srgbClr val="0E8A5F"/>
          </a:solidFill>
          <a:ln/>
        </p:spPr>
      </p:sp>
      <p:pic>
        <p:nvPicPr>
          <p:cNvPr id="21" name="Image 2" descr="preencoded.png">    </p:cNvPr>
          <p:cNvPicPr>
            <a:picLocks noChangeAspect="1"/>
          </p:cNvPicPr>
          <p:nvPr/>
        </p:nvPicPr>
        <p:blipFill>
          <a:blip r:embed="rId4"/>
          <a:stretch>
            <a:fillRect/>
          </a:stretch>
        </p:blipFill>
        <p:spPr>
          <a:xfrm>
            <a:off x="5016398" y="2200046"/>
            <a:ext cx="263347" cy="263347"/>
          </a:xfrm>
          <a:prstGeom prst="rect">
            <a:avLst/>
          </a:prstGeom>
        </p:spPr>
      </p:pic>
      <p:sp>
        <p:nvSpPr>
          <p:cNvPr id="22" name="Text 17"/>
          <p:cNvSpPr txBox="1"/>
          <p:nvPr/>
        </p:nvSpPr>
        <p:spPr>
          <a:xfrm>
            <a:off x="4873752" y="2743200"/>
            <a:ext cx="1554480" cy="54864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Scale up</a:t>
            </a:r>
            <a:endParaRPr lang="en-US" sz="1400" dirty="0"/>
          </a:p>
        </p:txBody>
      </p:sp>
      <p:sp>
        <p:nvSpPr>
          <p:cNvPr id="23" name="Text 18"/>
          <p:cNvSpPr txBox="1"/>
          <p:nvPr/>
        </p:nvSpPr>
        <p:spPr>
          <a:xfrm>
            <a:off x="4873752" y="3337560"/>
            <a:ext cx="1508760" cy="960120"/>
          </a:xfrm>
          <a:prstGeom prst="rect">
            <a:avLst/>
          </a:prstGeom>
          <a:noFill/>
          <a:ln/>
        </p:spPr>
        <p:txBody>
          <a:bodyPr wrap="square" lIns="0" tIns="0" rIns="0" bIns="0" rtlCol="0" anchor="t"/>
          <a:lstStyle/>
          <a:p>
            <a:pPr indent="0" marL="0">
              <a:buNone/>
            </a:pPr>
            <a:r>
              <a:rPr lang="en-US" sz="1100" dirty="0">
                <a:solidFill>
                  <a:srgbClr val="9FB3C8"/>
                </a:solidFill>
                <a:latin typeface="Calibri" pitchFamily="34" charset="0"/>
                <a:ea typeface="Calibri" pitchFamily="34" charset="-122"/>
                <a:cs typeface="Calibri" pitchFamily="34" charset="-120"/>
              </a:rPr>
              <a:t>Commercial production from 2027; full fields may need hundreds or thousands of nodes</a:t>
            </a:r>
            <a:endParaRPr lang="en-US" sz="1100" dirty="0"/>
          </a:p>
        </p:txBody>
      </p:sp>
      <p:sp>
        <p:nvSpPr>
          <p:cNvPr id="24" name="Shape 19"/>
          <p:cNvSpPr/>
          <p:nvPr/>
        </p:nvSpPr>
        <p:spPr>
          <a:xfrm>
            <a:off x="6739128" y="1463040"/>
            <a:ext cx="1920240" cy="2971800"/>
          </a:xfrm>
          <a:prstGeom prst="roundRect">
            <a:avLst>
              <a:gd name="adj" fmla="val 3810"/>
            </a:avLst>
          </a:prstGeom>
          <a:solidFill>
            <a:srgbClr val="143A60"/>
          </a:solidFill>
          <a:ln w="9525">
            <a:solidFill>
              <a:srgbClr val="24507A"/>
            </a:solidFill>
            <a:prstDash val="solid"/>
          </a:ln>
        </p:spPr>
      </p:sp>
      <p:sp>
        <p:nvSpPr>
          <p:cNvPr id="25" name="Text 20"/>
          <p:cNvSpPr txBox="1"/>
          <p:nvPr/>
        </p:nvSpPr>
        <p:spPr>
          <a:xfrm>
            <a:off x="6967728" y="1691640"/>
            <a:ext cx="1463040" cy="228600"/>
          </a:xfrm>
          <a:prstGeom prst="rect">
            <a:avLst/>
          </a:prstGeom>
          <a:noFill/>
          <a:ln/>
        </p:spPr>
        <p:txBody>
          <a:bodyPr wrap="square" lIns="0" tIns="0" rIns="0" bIns="0" rtlCol="0" anchor="ctr"/>
          <a:lstStyle/>
          <a:p>
            <a:pPr indent="0" marL="0">
              <a:buNone/>
            </a:pPr>
            <a:r>
              <a:rPr lang="en-US" sz="1000" b="1" spc="300" kern="0" dirty="0">
                <a:solidFill>
                  <a:srgbClr val="F2C12E"/>
                </a:solidFill>
                <a:latin typeface="Calibri" pitchFamily="34" charset="0"/>
                <a:ea typeface="Calibri" pitchFamily="34" charset="-122"/>
                <a:cs typeface="Calibri" pitchFamily="34" charset="-120"/>
              </a:rPr>
              <a:t>CONTEXT</a:t>
            </a:r>
            <a:endParaRPr lang="en-US" sz="1000" dirty="0"/>
          </a:p>
        </p:txBody>
      </p:sp>
      <p:sp>
        <p:nvSpPr>
          <p:cNvPr id="26" name="Shape 21"/>
          <p:cNvSpPr/>
          <p:nvPr/>
        </p:nvSpPr>
        <p:spPr>
          <a:xfrm>
            <a:off x="6967728" y="2057400"/>
            <a:ext cx="548640" cy="548640"/>
          </a:xfrm>
          <a:prstGeom prst="ellipse">
            <a:avLst/>
          </a:prstGeom>
          <a:solidFill>
            <a:srgbClr val="F2C12E"/>
          </a:solidFill>
          <a:ln/>
        </p:spPr>
      </p:sp>
      <p:pic>
        <p:nvPicPr>
          <p:cNvPr id="27" name="Image 3" descr="preencoded.png">    </p:cNvPr>
          <p:cNvPicPr>
            <a:picLocks noChangeAspect="1"/>
          </p:cNvPicPr>
          <p:nvPr/>
        </p:nvPicPr>
        <p:blipFill>
          <a:blip r:embed="rId5"/>
          <a:stretch>
            <a:fillRect/>
          </a:stretch>
        </p:blipFill>
        <p:spPr>
          <a:xfrm>
            <a:off x="7110374" y="2200046"/>
            <a:ext cx="263347" cy="263347"/>
          </a:xfrm>
          <a:prstGeom prst="rect">
            <a:avLst/>
          </a:prstGeom>
        </p:spPr>
      </p:pic>
      <p:sp>
        <p:nvSpPr>
          <p:cNvPr id="28" name="Text 22"/>
          <p:cNvSpPr txBox="1"/>
          <p:nvPr/>
        </p:nvSpPr>
        <p:spPr>
          <a:xfrm>
            <a:off x="6967728" y="2743200"/>
            <a:ext cx="1554480" cy="54864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Kraken ownership</a:t>
            </a:r>
            <a:endParaRPr lang="en-US" sz="1400" dirty="0"/>
          </a:p>
        </p:txBody>
      </p:sp>
      <p:sp>
        <p:nvSpPr>
          <p:cNvPr id="29" name="Text 23"/>
          <p:cNvSpPr txBox="1"/>
          <p:nvPr/>
        </p:nvSpPr>
        <p:spPr>
          <a:xfrm>
            <a:off x="6967728" y="3337560"/>
            <a:ext cx="1508760" cy="960120"/>
          </a:xfrm>
          <a:prstGeom prst="rect">
            <a:avLst/>
          </a:prstGeom>
          <a:noFill/>
          <a:ln/>
        </p:spPr>
        <p:txBody>
          <a:bodyPr wrap="square" lIns="0" tIns="0" rIns="0" bIns="0" rtlCol="0" anchor="t"/>
          <a:lstStyle/>
          <a:p>
            <a:pPr indent="0" marL="0">
              <a:buNone/>
            </a:pPr>
            <a:r>
              <a:rPr lang="en-US" sz="1100" dirty="0">
                <a:solidFill>
                  <a:srgbClr val="9FB3C8"/>
                </a:solidFill>
                <a:latin typeface="Calibri" pitchFamily="34" charset="0"/>
                <a:ea typeface="Calibri" pitchFamily="34" charset="-122"/>
                <a:cs typeface="Calibri" pitchFamily="34" charset="-120"/>
              </a:rPr>
              <a:t>Sonardyne joined Kraken Robotics with the Covelya acquisition on 2 July 2026</a:t>
            </a:r>
            <a:endParaRPr lang="en-US" sz="1100" dirty="0"/>
          </a:p>
        </p:txBody>
      </p:sp>
    </p:spTree>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0080"/>
            <a:ext cx="4572000" cy="274320"/>
          </a:xfrm>
          <a:prstGeom prst="rect">
            <a:avLst/>
          </a:prstGeom>
          <a:noFill/>
          <a:ln/>
        </p:spPr>
        <p:txBody>
          <a:bodyPr wrap="square" lIns="0" tIns="0" rIns="0" bIns="0" rtlCol="0" anchor="ctr"/>
          <a:lstStyle/>
          <a:p>
            <a:pPr indent="0" marL="0">
              <a:buNone/>
            </a:pPr>
            <a:r>
              <a:rPr lang="en-US" sz="1100" b="1" spc="400" kern="0" dirty="0">
                <a:solidFill>
                  <a:srgbClr val="17B584"/>
                </a:solidFill>
                <a:latin typeface="Calibri" pitchFamily="34" charset="0"/>
                <a:ea typeface="Calibri" pitchFamily="34" charset="-122"/>
                <a:cs typeface="Calibri" pitchFamily="34" charset="-120"/>
              </a:rPr>
              <a:t>KEY TAKEAWAYS</a:t>
            </a:r>
            <a:endParaRPr lang="en-US" sz="1100" dirty="0"/>
          </a:p>
        </p:txBody>
      </p:sp>
      <p:sp>
        <p:nvSpPr>
          <p:cNvPr id="3" name="Text 1"/>
          <p:cNvSpPr txBox="1"/>
          <p:nvPr/>
        </p:nvSpPr>
        <p:spPr>
          <a:xfrm>
            <a:off x="548640" y="960120"/>
            <a:ext cx="6035040" cy="1097280"/>
          </a:xfrm>
          <a:prstGeom prst="rect">
            <a:avLst/>
          </a:prstGeom>
          <a:noFill/>
          <a:ln/>
        </p:spPr>
        <p:txBody>
          <a:bodyPr wrap="square" lIns="0" tIns="0" rIns="0" bIns="0" rtlCol="0" anchor="t"/>
          <a:lstStyle/>
          <a:p>
            <a:pPr indent="0" marL="0">
              <a:buNone/>
            </a:pPr>
            <a:r>
              <a:rPr lang="en-US" sz="2800" b="1" dirty="0">
                <a:solidFill>
                  <a:srgbClr val="FFFFFF"/>
                </a:solidFill>
                <a:latin typeface="Arial" pitchFamily="34" charset="0"/>
                <a:ea typeface="Arial" pitchFamily="34" charset="-122"/>
                <a:cs typeface="Arial" pitchFamily="34" charset="-120"/>
              </a:rPr>
              <a:t>Brazil is where next-generation seabed monitoring goes live</a:t>
            </a:r>
            <a:endParaRPr lang="en-US" sz="2800" dirty="0"/>
          </a:p>
        </p:txBody>
      </p:sp>
      <p:sp>
        <p:nvSpPr>
          <p:cNvPr id="4" name="Text 2"/>
          <p:cNvSpPr txBox="1"/>
          <p:nvPr/>
        </p:nvSpPr>
        <p:spPr>
          <a:xfrm>
            <a:off x="548640" y="2423160"/>
            <a:ext cx="640080" cy="548640"/>
          </a:xfrm>
          <a:prstGeom prst="rect">
            <a:avLst/>
          </a:prstGeom>
          <a:noFill/>
          <a:ln/>
        </p:spPr>
        <p:txBody>
          <a:bodyPr wrap="square" lIns="0" tIns="0" rIns="0" bIns="0" rtlCol="0" anchor="ctr"/>
          <a:lstStyle/>
          <a:p>
            <a:pPr indent="0" marL="0">
              <a:buNone/>
            </a:pPr>
            <a:r>
              <a:rPr lang="en-US" sz="2400" b="1" dirty="0">
                <a:solidFill>
                  <a:srgbClr val="F2C12E"/>
                </a:solidFill>
                <a:latin typeface="Arial" pitchFamily="34" charset="0"/>
                <a:ea typeface="Arial" pitchFamily="34" charset="-122"/>
                <a:cs typeface="Arial" pitchFamily="34" charset="-120"/>
              </a:rPr>
              <a:t>01</a:t>
            </a:r>
            <a:endParaRPr lang="en-US" sz="2400" dirty="0"/>
          </a:p>
        </p:txBody>
      </p:sp>
      <p:sp>
        <p:nvSpPr>
          <p:cNvPr id="5" name="Text 3"/>
          <p:cNvSpPr txBox="1"/>
          <p:nvPr/>
        </p:nvSpPr>
        <p:spPr>
          <a:xfrm>
            <a:off x="1234440" y="2423160"/>
            <a:ext cx="4846320" cy="548640"/>
          </a:xfrm>
          <a:prstGeom prst="rect">
            <a:avLst/>
          </a:prstGeom>
          <a:noFill/>
          <a:ln/>
        </p:spPr>
        <p:txBody>
          <a:bodyPr wrap="square" lIns="0" tIns="0" rIns="0" bIns="0" rtlCol="0" anchor="ctr"/>
          <a:lstStyle/>
          <a:p>
            <a:pPr indent="0" marL="0">
              <a:buNone/>
            </a:pPr>
            <a:r>
              <a:rPr lang="en-US" sz="1400" dirty="0">
                <a:solidFill>
                  <a:srgbClr val="E8EFF6"/>
                </a:solidFill>
                <a:latin typeface="Calibri" pitchFamily="34" charset="0"/>
                <a:ea typeface="Calibri" pitchFamily="34" charset="-122"/>
                <a:cs typeface="Calibri" pitchFamily="34" charset="-120"/>
              </a:rPr>
              <a:t>Local presence and Portuguese-speaking support underpin long-term operator relationships</a:t>
            </a:r>
            <a:endParaRPr lang="en-US" sz="1400" dirty="0"/>
          </a:p>
        </p:txBody>
      </p:sp>
      <p:sp>
        <p:nvSpPr>
          <p:cNvPr id="6" name="Text 4"/>
          <p:cNvSpPr txBox="1"/>
          <p:nvPr/>
        </p:nvSpPr>
        <p:spPr>
          <a:xfrm>
            <a:off x="548640" y="3108960"/>
            <a:ext cx="640080" cy="548640"/>
          </a:xfrm>
          <a:prstGeom prst="rect">
            <a:avLst/>
          </a:prstGeom>
          <a:noFill/>
          <a:ln/>
        </p:spPr>
        <p:txBody>
          <a:bodyPr wrap="square" lIns="0" tIns="0" rIns="0" bIns="0" rtlCol="0" anchor="ctr"/>
          <a:lstStyle/>
          <a:p>
            <a:pPr indent="0" marL="0">
              <a:buNone/>
            </a:pPr>
            <a:r>
              <a:rPr lang="en-US" sz="2400" b="1" dirty="0">
                <a:solidFill>
                  <a:srgbClr val="F2C12E"/>
                </a:solidFill>
                <a:latin typeface="Arial" pitchFamily="34" charset="0"/>
                <a:ea typeface="Arial" pitchFamily="34" charset="-122"/>
                <a:cs typeface="Arial" pitchFamily="34" charset="-120"/>
              </a:rPr>
              <a:t>02</a:t>
            </a:r>
            <a:endParaRPr lang="en-US" sz="2400" dirty="0"/>
          </a:p>
        </p:txBody>
      </p:sp>
      <p:sp>
        <p:nvSpPr>
          <p:cNvPr id="7" name="Text 5"/>
          <p:cNvSpPr txBox="1"/>
          <p:nvPr/>
        </p:nvSpPr>
        <p:spPr>
          <a:xfrm>
            <a:off x="1234440" y="3108960"/>
            <a:ext cx="4846320" cy="548640"/>
          </a:xfrm>
          <a:prstGeom prst="rect">
            <a:avLst/>
          </a:prstGeom>
          <a:noFill/>
          <a:ln/>
        </p:spPr>
        <p:txBody>
          <a:bodyPr wrap="square" lIns="0" tIns="0" rIns="0" bIns="0" rtlCol="0" anchor="ctr"/>
          <a:lstStyle/>
          <a:p>
            <a:pPr indent="0" marL="0">
              <a:buNone/>
            </a:pPr>
            <a:r>
              <a:rPr lang="en-US" sz="1400" dirty="0">
                <a:solidFill>
                  <a:srgbClr val="E8EFF6"/>
                </a:solidFill>
                <a:latin typeface="Calibri" pitchFamily="34" charset="0"/>
                <a:ea typeface="Calibri" pitchFamily="34" charset="-122"/>
                <a:cs typeface="Calibri" pitchFamily="34" charset="-120"/>
              </a:rPr>
              <a:t>OD OBN has moved from 2,000+ days of trials to a live deployment at Mero</a:t>
            </a:r>
            <a:endParaRPr lang="en-US" sz="1400" dirty="0"/>
          </a:p>
        </p:txBody>
      </p:sp>
      <p:sp>
        <p:nvSpPr>
          <p:cNvPr id="8" name="Text 6"/>
          <p:cNvSpPr txBox="1"/>
          <p:nvPr/>
        </p:nvSpPr>
        <p:spPr>
          <a:xfrm>
            <a:off x="548640" y="3794760"/>
            <a:ext cx="640080" cy="548640"/>
          </a:xfrm>
          <a:prstGeom prst="rect">
            <a:avLst/>
          </a:prstGeom>
          <a:noFill/>
          <a:ln/>
        </p:spPr>
        <p:txBody>
          <a:bodyPr wrap="square" lIns="0" tIns="0" rIns="0" bIns="0" rtlCol="0" anchor="ctr"/>
          <a:lstStyle/>
          <a:p>
            <a:pPr indent="0" marL="0">
              <a:buNone/>
            </a:pPr>
            <a:r>
              <a:rPr lang="en-US" sz="2400" b="1" dirty="0">
                <a:solidFill>
                  <a:srgbClr val="F2C12E"/>
                </a:solidFill>
                <a:latin typeface="Arial" pitchFamily="34" charset="0"/>
                <a:ea typeface="Arial" pitchFamily="34" charset="-122"/>
                <a:cs typeface="Arial" pitchFamily="34" charset="-120"/>
              </a:rPr>
              <a:t>03</a:t>
            </a:r>
            <a:endParaRPr lang="en-US" sz="2400" dirty="0"/>
          </a:p>
        </p:txBody>
      </p:sp>
      <p:sp>
        <p:nvSpPr>
          <p:cNvPr id="9" name="Text 7"/>
          <p:cNvSpPr txBox="1"/>
          <p:nvPr/>
        </p:nvSpPr>
        <p:spPr>
          <a:xfrm>
            <a:off x="1234440" y="3794760"/>
            <a:ext cx="4846320" cy="548640"/>
          </a:xfrm>
          <a:prstGeom prst="rect">
            <a:avLst/>
          </a:prstGeom>
          <a:noFill/>
          <a:ln/>
        </p:spPr>
        <p:txBody>
          <a:bodyPr wrap="square" lIns="0" tIns="0" rIns="0" bIns="0" rtlCol="0" anchor="ctr"/>
          <a:lstStyle/>
          <a:p>
            <a:pPr indent="0" marL="0">
              <a:buNone/>
            </a:pPr>
            <a:r>
              <a:rPr lang="en-US" sz="1400" dirty="0">
                <a:solidFill>
                  <a:srgbClr val="E8EFF6"/>
                </a:solidFill>
                <a:latin typeface="Calibri" pitchFamily="34" charset="0"/>
                <a:ea typeface="Calibri" pitchFamily="34" charset="-122"/>
                <a:cs typeface="Calibri" pitchFamily="34" charset="-120"/>
              </a:rPr>
              <a:t>Acoustic control and optical harvesting make repeat 4D surveys cheaper and lower-emission</a:t>
            </a:r>
            <a:endParaRPr lang="en-US" sz="1400" dirty="0"/>
          </a:p>
        </p:txBody>
      </p:sp>
    </p:spTree>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92608"/>
            <a:ext cx="6400800" cy="228600"/>
          </a:xfrm>
          <a:prstGeom prst="rect">
            <a:avLst/>
          </a:prstGeom>
          <a:noFill/>
          <a:ln/>
        </p:spPr>
        <p:txBody>
          <a:bodyPr wrap="square" lIns="0" tIns="0" rIns="0" bIns="0" rtlCol="0" anchor="ctr"/>
          <a:lstStyle/>
          <a:p>
            <a:pPr indent="0" marL="0">
              <a:buNone/>
            </a:pPr>
            <a:r>
              <a:rPr lang="en-US" sz="1000" b="1" spc="300" kern="0" dirty="0">
                <a:solidFill>
                  <a:srgbClr val="17B584"/>
                </a:solidFill>
                <a:latin typeface="Calibri" pitchFamily="34" charset="0"/>
                <a:ea typeface="Calibri" pitchFamily="34" charset="-122"/>
                <a:cs typeface="Calibri" pitchFamily="34" charset="-120"/>
              </a:rPr>
              <a:t>REFERENCES</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Sources</a:t>
            </a:r>
            <a:endParaRPr lang="en-US" sz="2400" dirty="0"/>
          </a:p>
        </p:txBody>
      </p:sp>
      <p:sp>
        <p:nvSpPr>
          <p:cNvPr id="4" name="Text 2"/>
          <p:cNvSpPr txBox="1"/>
          <p:nvPr/>
        </p:nvSpPr>
        <p:spPr>
          <a:xfrm>
            <a:off x="457200" y="4754880"/>
            <a:ext cx="2743200" cy="201168"/>
          </a:xfrm>
          <a:prstGeom prst="rect">
            <a:avLst/>
          </a:prstGeom>
          <a:noFill/>
          <a:ln/>
        </p:spPr>
        <p:txBody>
          <a:bodyPr wrap="square" lIns="0" tIns="0" rIns="0" bIns="0" rtlCol="0" anchor="ctr"/>
          <a:lstStyle/>
          <a:p>
            <a:pPr indent="0" marL="0">
              <a:buNone/>
            </a:pPr>
            <a:r>
              <a:rPr lang="en-US" sz="900" dirty="0">
                <a:solidFill>
                  <a:srgbClr val="6F87A0"/>
                </a:solidFill>
                <a:latin typeface="Calibri" pitchFamily="34" charset="0"/>
                <a:ea typeface="Calibri" pitchFamily="34" charset="-122"/>
                <a:cs typeface="Calibri" pitchFamily="34" charset="-120"/>
              </a:rPr>
              <a:t>Sonardyne in Brazil</a:t>
            </a:r>
            <a:endParaRPr lang="en-US" sz="900" dirty="0"/>
          </a:p>
        </p:txBody>
      </p:sp>
      <p:sp>
        <p:nvSpPr>
          <p:cNvPr id="5" name="Text 3"/>
          <p:cNvSpPr txBox="1"/>
          <p:nvPr/>
        </p:nvSpPr>
        <p:spPr>
          <a:xfrm>
            <a:off x="7772400" y="4754880"/>
            <a:ext cx="914400" cy="201168"/>
          </a:xfrm>
          <a:prstGeom prst="rect">
            <a:avLst/>
          </a:prstGeom>
          <a:noFill/>
          <a:ln/>
        </p:spPr>
        <p:txBody>
          <a:bodyPr wrap="square" lIns="0" tIns="0" rIns="0" bIns="0" rtlCol="0" anchor="ctr"/>
          <a:lstStyle/>
          <a:p>
            <a:pPr algn="r" indent="0" marL="0">
              <a:buNone/>
            </a:pPr>
            <a:r>
              <a:rPr lang="en-US" sz="900" dirty="0">
                <a:solidFill>
                  <a:srgbClr val="6F87A0"/>
                </a:solidFill>
                <a:latin typeface="Calibri" pitchFamily="34" charset="0"/>
                <a:ea typeface="Calibri" pitchFamily="34" charset="-122"/>
                <a:cs typeface="Calibri" pitchFamily="34" charset="-120"/>
              </a:rPr>
              <a:t>12 / 12</a:t>
            </a:r>
            <a:endParaRPr lang="en-US" sz="900" dirty="0"/>
          </a:p>
        </p:txBody>
      </p:sp>
      <p:sp>
        <p:nvSpPr>
          <p:cNvPr id="6" name="Text 4"/>
          <p:cNvSpPr txBox="1"/>
          <p:nvPr/>
        </p:nvSpPr>
        <p:spPr>
          <a:xfrm>
            <a:off x="457200" y="1234440"/>
            <a:ext cx="8229600" cy="292608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E8EFF6"/>
                </a:solidFill>
                <a:latin typeface="Calibri" pitchFamily="34" charset="0"/>
                <a:ea typeface="Calibri" pitchFamily="34" charset="-122"/>
                <a:cs typeface="Calibri" pitchFamily="34" charset="-120"/>
              </a:rPr>
              <a:t>JPT (SPE), 19 June 2026: New seismic acquisition technology advances offshore Brazil</a:t>
            </a:r>
            <a:endParaRPr lang="en-US" sz="1150" dirty="0"/>
          </a:p>
          <a:p>
            <a:pPr marL="342900" indent="-342900">
              <a:spcAft>
                <a:spcPts val="600"/>
              </a:spcAft>
              <a:buSzPct val="100000"/>
              <a:buChar char="•"/>
            </a:pPr>
            <a:r>
              <a:rPr lang="en-US" sz="1150" dirty="0">
                <a:solidFill>
                  <a:srgbClr val="E8EFF6"/>
                </a:solidFill>
                <a:latin typeface="Calibri" pitchFamily="34" charset="0"/>
                <a:ea typeface="Calibri" pitchFamily="34" charset="-122"/>
                <a:cs typeface="Calibri" pitchFamily="34" charset="-120"/>
              </a:rPr>
              <a:t>Kraken Robotics, 20 July 2026: $35 million in new orders and business update</a:t>
            </a:r>
            <a:endParaRPr lang="en-US" sz="1150" dirty="0"/>
          </a:p>
          <a:p>
            <a:pPr marL="342900" indent="-342900">
              <a:spcAft>
                <a:spcPts val="600"/>
              </a:spcAft>
              <a:buSzPct val="100000"/>
              <a:buChar char="•"/>
            </a:pPr>
            <a:r>
              <a:rPr lang="en-US" sz="1150" dirty="0">
                <a:solidFill>
                  <a:srgbClr val="E8EFF6"/>
                </a:solidFill>
                <a:latin typeface="Calibri" pitchFamily="34" charset="0"/>
                <a:ea typeface="Calibri" pitchFamily="34" charset="-122"/>
                <a:cs typeface="Calibri" pitchFamily="34" charset="-120"/>
              </a:rPr>
              <a:t>Offshore Magazine, 15 Jan 2026: On-demand OBN system enhances surveillance of Brazil's presalt fields</a:t>
            </a:r>
            <a:endParaRPr lang="en-US" sz="1150" dirty="0"/>
          </a:p>
          <a:p>
            <a:pPr marL="342900" indent="-342900">
              <a:spcAft>
                <a:spcPts val="600"/>
              </a:spcAft>
              <a:buSzPct val="100000"/>
              <a:buChar char="•"/>
            </a:pPr>
            <a:r>
              <a:rPr lang="en-US" sz="1150" dirty="0">
                <a:solidFill>
                  <a:srgbClr val="E8EFF6"/>
                </a:solidFill>
                <a:latin typeface="Calibri" pitchFamily="34" charset="0"/>
                <a:ea typeface="Calibri" pitchFamily="34" charset="-122"/>
                <a:cs typeface="Calibri" pitchFamily="34" charset="-120"/>
              </a:rPr>
              <a:t>Marine Technology News: On-Demand Ocean Bottom Node, a new era in deepwater seismic monitoring</a:t>
            </a:r>
            <a:endParaRPr lang="en-US" sz="1150" dirty="0"/>
          </a:p>
          <a:p>
            <a:pPr marL="342900" indent="-342900">
              <a:spcAft>
                <a:spcPts val="600"/>
              </a:spcAft>
              <a:buSzPct val="100000"/>
              <a:buChar char="•"/>
            </a:pPr>
            <a:r>
              <a:rPr lang="en-US" sz="1150" dirty="0">
                <a:solidFill>
                  <a:srgbClr val="E8EFF6"/>
                </a:solidFill>
                <a:latin typeface="Calibri" pitchFamily="34" charset="0"/>
                <a:ea typeface="Calibri" pitchFamily="34" charset="-122"/>
                <a:cs typeface="Calibri" pitchFamily="34" charset="-120"/>
              </a:rPr>
              <a:t>Sonardyne: OD OBN case study; OD OBN phase release (June 2024); C-Innovation case study (Oct 2022); OceanPact release (June 2020); second Brazil office (May 2015); BlueComm 200 UV product page</a:t>
            </a:r>
            <a:endParaRPr lang="en-US" sz="1150" dirty="0"/>
          </a:p>
          <a:p>
            <a:pPr marL="342900" indent="-342900">
              <a:spcAft>
                <a:spcPts val="600"/>
              </a:spcAft>
              <a:buSzPct val="100000"/>
              <a:buChar char="•"/>
            </a:pPr>
            <a:r>
              <a:rPr lang="en-US" sz="1150" dirty="0">
                <a:solidFill>
                  <a:srgbClr val="E8EFF6"/>
                </a:solidFill>
                <a:latin typeface="Calibri" pitchFamily="34" charset="0"/>
                <a:ea typeface="Calibri" pitchFamily="34" charset="-122"/>
                <a:cs typeface="Calibri" pitchFamily="34" charset="-120"/>
              </a:rPr>
              <a:t>Offshore Magazine, Sept 2016: Sonardyne delivers subsea technology to Fugro vessel offshore Brazil</a:t>
            </a:r>
            <a:endParaRPr lang="en-US" sz="1150" dirty="0"/>
          </a:p>
          <a:p>
            <a:pPr marL="342900" indent="-342900">
              <a:spcAft>
                <a:spcPts val="600"/>
              </a:spcAft>
              <a:buSzPct val="100000"/>
              <a:buChar char="•"/>
            </a:pPr>
            <a:r>
              <a:rPr lang="en-US" sz="1150" dirty="0">
                <a:solidFill>
                  <a:srgbClr val="E8EFF6"/>
                </a:solidFill>
                <a:latin typeface="Calibri" pitchFamily="34" charset="0"/>
                <a:ea typeface="Calibri" pitchFamily="34" charset="-122"/>
                <a:cs typeface="Calibri" pitchFamily="34" charset="-120"/>
              </a:rPr>
              <a:t>Keyfacts Energy, Oct 2020: C-Innovation selects Sonardyne technology</a:t>
            </a:r>
            <a:endParaRPr lang="en-US" sz="1150" dirty="0"/>
          </a:p>
        </p:txBody>
      </p:sp>
      <p:sp>
        <p:nvSpPr>
          <p:cNvPr id="7" name="Text 5"/>
          <p:cNvSpPr txBox="1"/>
          <p:nvPr/>
        </p:nvSpPr>
        <p:spPr>
          <a:xfrm>
            <a:off x="457200" y="4343400"/>
            <a:ext cx="8229600" cy="274320"/>
          </a:xfrm>
          <a:prstGeom prst="rect">
            <a:avLst/>
          </a:prstGeom>
          <a:noFill/>
          <a:ln/>
        </p:spPr>
        <p:txBody>
          <a:bodyPr wrap="square" lIns="0" tIns="0" rIns="0" bIns="0" rtlCol="0" anchor="ctr"/>
          <a:lstStyle/>
          <a:p>
            <a:pPr indent="0" marL="0">
              <a:buNone/>
            </a:pPr>
            <a:r>
              <a:rPr lang="en-US" sz="1000" i="1" dirty="0">
                <a:solidFill>
                  <a:srgbClr val="9FB3C8"/>
                </a:solidFill>
                <a:latin typeface="Calibri" pitchFamily="34" charset="0"/>
                <a:ea typeface="Calibri" pitchFamily="34" charset="-122"/>
                <a:cs typeface="Calibri" pitchFamily="34" charset="-120"/>
              </a:rPr>
              <a:t>Node counts differ between sources over time (600 planned in 2024; 660 in production in 2026).</a:t>
            </a:r>
            <a:endParaRPr lang="en-US" sz="1000" dirty="0"/>
          </a:p>
        </p:txBody>
      </p:sp>
    </p:spTree>
  </p:cSld>
  <p:clrMapOvr>
    <a:masterClrMapping/>
  </p:clrMapOvr>
  <p:transition spd="slow">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Sonardyne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Sonardyne in Brazil</dc:title>
  <dc:subject>PptxGenJS Presentation</dc:subject>
  <dc:creator>PptxGenJS</dc:creator>
  <cp:lastModifiedBy>PptxGenJS</cp:lastModifiedBy>
  <cp:revision>1</cp:revision>
  <dcterms:created xsi:type="dcterms:W3CDTF">2026-09-30T08:27:02Z</dcterms:created>
  <dcterms:modified xsi:type="dcterms:W3CDTF">2026-09-30T08:27:02Z</dcterms:modified>
</cp:coreProperties>
</file>